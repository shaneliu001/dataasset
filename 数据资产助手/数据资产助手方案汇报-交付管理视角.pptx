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bbda4a67704805" /><Relationship Type="http://schemas.openxmlformats.org/officeDocument/2006/relationships/extended-properties" Target="/docProps/app.xml" Id="R9fc4249f88cf4083" /><Relationship Type="http://schemas.openxmlformats.org/officeDocument/2006/relationships/officeDocument" Target="/ppt/presentation.xml" Id="R6b737178fac14b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74be602e4c4fe4"/>
  </p:sldMasterIdLst>
  <p:notesMasterIdLst>
    <p:notesMasterId xmlns:r="http://schemas.openxmlformats.org/officeDocument/2006/relationships" r:id="R896b8012e9ab4bcf"/>
  </p:notesMasterIdLst>
  <p:sldIdLst>
    <p:sldId xmlns:r="http://schemas.openxmlformats.org/officeDocument/2006/relationships" id="256" r:id="R0bf11395e07f4906"/>
    <p:sldId xmlns:r="http://schemas.openxmlformats.org/officeDocument/2006/relationships" id="257" r:id="R1390ab3ea3c74532"/>
    <p:sldId xmlns:r="http://schemas.openxmlformats.org/officeDocument/2006/relationships" id="258" r:id="Rcf8ce0b6c3da408f"/>
    <p:sldId xmlns:r="http://schemas.openxmlformats.org/officeDocument/2006/relationships" id="259" r:id="R93270bb4e4b3402b"/>
    <p:sldId xmlns:r="http://schemas.openxmlformats.org/officeDocument/2006/relationships" id="260" r:id="Re69ea563d46944ea"/>
    <p:sldId xmlns:r="http://schemas.openxmlformats.org/officeDocument/2006/relationships" id="261" r:id="Rc1210ef1294f47bb"/>
    <p:sldId xmlns:r="http://schemas.openxmlformats.org/officeDocument/2006/relationships" id="262" r:id="Rf2d5c305100c462d"/>
    <p:sldId xmlns:r="http://schemas.openxmlformats.org/officeDocument/2006/relationships" id="263" r:id="R583c0a13aac3470d"/>
    <p:sldId xmlns:r="http://schemas.openxmlformats.org/officeDocument/2006/relationships" id="264" r:id="Re0da75fa546f4545"/>
    <p:sldId xmlns:r="http://schemas.openxmlformats.org/officeDocument/2006/relationships" id="265" r:id="R41b612ead74b4a65"/>
    <p:sldId xmlns:r="http://schemas.openxmlformats.org/officeDocument/2006/relationships" id="266" r:id="R659ed0fa4aaf4807"/>
    <p:sldId xmlns:r="http://schemas.openxmlformats.org/officeDocument/2006/relationships" id="267" r:id="Rfbc470beb96e4fde"/>
    <p:sldId xmlns:r="http://schemas.openxmlformats.org/officeDocument/2006/relationships" id="268" r:id="Rf3cd76b4e1bb4433"/>
    <p:sldId xmlns:r="http://schemas.openxmlformats.org/officeDocument/2006/relationships" id="269" r:id="Rc3b2c50aa9c740b6"/>
    <p:sldId xmlns:r="http://schemas.openxmlformats.org/officeDocument/2006/relationships" id="270" r:id="R26dd6c57c20e4b4a"/>
    <p:sldId xmlns:r="http://schemas.openxmlformats.org/officeDocument/2006/relationships" id="271" r:id="R7dbf00b4642f4ca8"/>
    <p:sldId xmlns:r="http://schemas.openxmlformats.org/officeDocument/2006/relationships" id="272" r:id="Rd7418b5417e4466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68bfdd09324b37" /><Relationship Type="http://schemas.openxmlformats.org/officeDocument/2006/relationships/slideMaster" Target="/ppt/slideMasters/slideMaster1.xml" Id="Rd774be602e4c4fe4" /><Relationship Type="http://schemas.openxmlformats.org/officeDocument/2006/relationships/notesMaster" Target="/ppt/notesMasters/notesMaster1.xml" Id="R896b8012e9ab4bcf" /><Relationship Type="http://schemas.openxmlformats.org/officeDocument/2006/relationships/presProps" Target="/ppt/presProps.xml" Id="R04ea0c423e7e46d4" /><Relationship Type="http://schemas.openxmlformats.org/officeDocument/2006/relationships/tableStyles" Target="/ppt/tableStyles.xml" Id="R22c8d848148947b7" /><Relationship Type="http://schemas.openxmlformats.org/officeDocument/2006/relationships/slide" Target="/ppt/slides/slide1.xml" Id="R0bf11395e07f4906" /><Relationship Type="http://schemas.openxmlformats.org/officeDocument/2006/relationships/slide" Target="/ppt/slides/slide2.xml" Id="R1390ab3ea3c74532" /><Relationship Type="http://schemas.openxmlformats.org/officeDocument/2006/relationships/slide" Target="/ppt/slides/slide3.xml" Id="Rcf8ce0b6c3da408f" /><Relationship Type="http://schemas.openxmlformats.org/officeDocument/2006/relationships/slide" Target="/ppt/slides/slide4.xml" Id="R93270bb4e4b3402b" /><Relationship Type="http://schemas.openxmlformats.org/officeDocument/2006/relationships/slide" Target="/ppt/slides/slide5.xml" Id="Re69ea563d46944ea" /><Relationship Type="http://schemas.openxmlformats.org/officeDocument/2006/relationships/slide" Target="/ppt/slides/slide6.xml" Id="Rc1210ef1294f47bb" /><Relationship Type="http://schemas.openxmlformats.org/officeDocument/2006/relationships/slide" Target="/ppt/slides/slide7.xml" Id="Rf2d5c305100c462d" /><Relationship Type="http://schemas.openxmlformats.org/officeDocument/2006/relationships/slide" Target="/ppt/slides/slide8.xml" Id="R583c0a13aac3470d" /><Relationship Type="http://schemas.openxmlformats.org/officeDocument/2006/relationships/slide" Target="/ppt/slides/slide9.xml" Id="Re0da75fa546f4545" /><Relationship Type="http://schemas.openxmlformats.org/officeDocument/2006/relationships/slide" Target="/ppt/slides/slide10.xml" Id="R41b612ead74b4a65" /><Relationship Type="http://schemas.openxmlformats.org/officeDocument/2006/relationships/slide" Target="/ppt/slides/slide11.xml" Id="R659ed0fa4aaf4807" /><Relationship Type="http://schemas.openxmlformats.org/officeDocument/2006/relationships/slide" Target="/ppt/slides/slide12.xml" Id="Rfbc470beb96e4fde" /><Relationship Type="http://schemas.openxmlformats.org/officeDocument/2006/relationships/slide" Target="/ppt/slides/slide13.xml" Id="Rf3cd76b4e1bb4433" /><Relationship Type="http://schemas.openxmlformats.org/officeDocument/2006/relationships/slide" Target="/ppt/slides/slide14.xml" Id="Rc3b2c50aa9c740b6" /><Relationship Type="http://schemas.openxmlformats.org/officeDocument/2006/relationships/slide" Target="/ppt/slides/slide15.xml" Id="R26dd6c57c20e4b4a" /><Relationship Type="http://schemas.openxmlformats.org/officeDocument/2006/relationships/slide" Target="/ppt/slides/slide16.xml" Id="R7dbf00b4642f4ca8" /><Relationship Type="http://schemas.openxmlformats.org/officeDocument/2006/relationships/slide" Target="/ppt/slides/slide17.xml" Id="Rd7418b5417e446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29e81a3c9f4b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9b2feb04f64186" /><Relationship Type="http://schemas.openxmlformats.org/officeDocument/2006/relationships/notesMaster" Target="/ppt/notesMasters/notesMaster1.xml" Id="Rbd6d65ee18c44f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ec368562dd4565" /><Relationship Type="http://schemas.openxmlformats.org/officeDocument/2006/relationships/notesMaster" Target="/ppt/notesMasters/notesMaster1.xml" Id="Ra25261dbb1ae42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84ffc1c00d4487" /><Relationship Type="http://schemas.openxmlformats.org/officeDocument/2006/relationships/notesMaster" Target="/ppt/notesMasters/notesMaster1.xml" Id="R8154025202fc42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2917b912d44005" /><Relationship Type="http://schemas.openxmlformats.org/officeDocument/2006/relationships/notesMaster" Target="/ppt/notesMasters/notesMaster1.xml" Id="R3c7df9fcdee74e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aca1cd54b54b00" /><Relationship Type="http://schemas.openxmlformats.org/officeDocument/2006/relationships/notesMaster" Target="/ppt/notesMasters/notesMaster1.xml" Id="Re1d6bea64e944b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8cfc5ff8b94e96" /><Relationship Type="http://schemas.openxmlformats.org/officeDocument/2006/relationships/notesMaster" Target="/ppt/notesMasters/notesMaster1.xml" Id="Rcfd8eb856ae340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97125311244e8a" /><Relationship Type="http://schemas.openxmlformats.org/officeDocument/2006/relationships/notesMaster" Target="/ppt/notesMasters/notesMaster1.xml" Id="Rfd572272912f4f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345b9f947f4202" /><Relationship Type="http://schemas.openxmlformats.org/officeDocument/2006/relationships/notesMaster" Target="/ppt/notesMasters/notesMaster1.xml" Id="R0f398723a81142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c8d713e8a34547" /><Relationship Type="http://schemas.openxmlformats.org/officeDocument/2006/relationships/notesMaster" Target="/ppt/notesMasters/notesMaster1.xml" Id="R3e94c6b6c5bf44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6adac13d9340f0" /><Relationship Type="http://schemas.openxmlformats.org/officeDocument/2006/relationships/notesMaster" Target="/ppt/notesMasters/notesMaster1.xml" Id="Rd8c8a94921db4f5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1fa820bfcab4ea9" /><Relationship Type="http://schemas.openxmlformats.org/officeDocument/2006/relationships/notesMaster" Target="/ppt/notesMasters/notesMaster1.xml" Id="Re06f50bba4c34a1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a6dcc866e39460b" /><Relationship Type="http://schemas.openxmlformats.org/officeDocument/2006/relationships/notesMaster" Target="/ppt/notesMasters/notesMaster1.xml" Id="Rfe766951cf874f4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8e8fb21adb94f77" /><Relationship Type="http://schemas.openxmlformats.org/officeDocument/2006/relationships/notesMaster" Target="/ppt/notesMasters/notesMaster1.xml" Id="R78291d1102fb4f5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78f40076b2b4fb1" /><Relationship Type="http://schemas.openxmlformats.org/officeDocument/2006/relationships/notesMaster" Target="/ppt/notesMasters/notesMaster1.xml" Id="Rb34cb7a5b306430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5e1ae4d493c446c" /><Relationship Type="http://schemas.openxmlformats.org/officeDocument/2006/relationships/notesMaster" Target="/ppt/notesMasters/notesMaster1.xml" Id="R604113a46cab43e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cd8ba8779ae4947" /><Relationship Type="http://schemas.openxmlformats.org/officeDocument/2006/relationships/notesMaster" Target="/ppt/notesMasters/notesMaster1.xml" Id="R09f334e8e63d416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1c362283f234526" /><Relationship Type="http://schemas.openxmlformats.org/officeDocument/2006/relationships/notesMaster" Target="/ppt/notesMasters/notesMaster1.xml" Id="Rc7486eba566b40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253abe0de74b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83aa5c3ccb4f20" /><Relationship Type="http://schemas.openxmlformats.org/officeDocument/2006/relationships/slideLayout" Target="/ppt/slideLayouts/slideLayout1.xml" Id="Rafb3c6f50bdd44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b3c6f50bdd44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cc06f39e04ab3" /><Relationship Type="http://schemas.openxmlformats.org/officeDocument/2006/relationships/notesSlide" Target="/ppt/notesSlides/notesSlide1.xml" Id="R39dcb73962da4c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d3d851f844939" /><Relationship Type="http://schemas.openxmlformats.org/officeDocument/2006/relationships/notesSlide" Target="/ppt/notesSlides/notesSlide2.xml" Id="Ra19600db570c43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3ac1e9de24f5f" /><Relationship Type="http://schemas.openxmlformats.org/officeDocument/2006/relationships/notesSlide" Target="/ppt/notesSlides/notesSlide3.xml" Id="R10e07cf9bec349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96601af014076" /><Relationship Type="http://schemas.openxmlformats.org/officeDocument/2006/relationships/notesSlide" Target="/ppt/notesSlides/notesSlide4.xml" Id="R92d7ce3b472f44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24e6ea96c496b" /><Relationship Type="http://schemas.openxmlformats.org/officeDocument/2006/relationships/notesSlide" Target="/ppt/notesSlides/notesSlide5.xml" Id="Rff4b6467b2394f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d1cfbf1984463" /><Relationship Type="http://schemas.openxmlformats.org/officeDocument/2006/relationships/notesSlide" Target="/ppt/notesSlides/notesSlide6.xml" Id="Rf5478db15c9b48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84619d98844fb" /><Relationship Type="http://schemas.openxmlformats.org/officeDocument/2006/relationships/notesSlide" Target="/ppt/notesSlides/notesSlide7.xml" Id="Rb01cf4eea1fd45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74d1feb274187" /><Relationship Type="http://schemas.openxmlformats.org/officeDocument/2006/relationships/notesSlide" Target="/ppt/notesSlides/notesSlide8.xml" Id="R37aa545620554d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1761408bc1431a" /><Relationship Type="http://schemas.openxmlformats.org/officeDocument/2006/relationships/notesSlide" Target="/ppt/notesSlides/notesSlide9.xml" Id="R5720e82f278346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68322722a4005" /><Relationship Type="http://schemas.openxmlformats.org/officeDocument/2006/relationships/notesSlide" Target="/ppt/notesSlides/notesSlide10.xml" Id="R62b202df478a44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671ae6b244daa" /><Relationship Type="http://schemas.openxmlformats.org/officeDocument/2006/relationships/notesSlide" Target="/ppt/notesSlides/notesSlide11.xml" Id="R378e24d7357845b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c7bbeabf541d3" /><Relationship Type="http://schemas.openxmlformats.org/officeDocument/2006/relationships/notesSlide" Target="/ppt/notesSlides/notesSlide12.xml" Id="Rffd36c66f76c4df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7c099dced4946" /><Relationship Type="http://schemas.openxmlformats.org/officeDocument/2006/relationships/notesSlide" Target="/ppt/notesSlides/notesSlide13.xml" Id="Ra6cd95eb2f7e44a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0cc287f2b42c0" /><Relationship Type="http://schemas.openxmlformats.org/officeDocument/2006/relationships/notesSlide" Target="/ppt/notesSlides/notesSlide14.xml" Id="Rd0d4e645cb13464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d6f0cb83d4cd0" /><Relationship Type="http://schemas.openxmlformats.org/officeDocument/2006/relationships/notesSlide" Target="/ppt/notesSlides/notesSlide15.xml" Id="R3dcf7389cd304c2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5d14b46c2493d" /><Relationship Type="http://schemas.openxmlformats.org/officeDocument/2006/relationships/notesSlide" Target="/ppt/notesSlides/notesSlide16.xml" Id="Rbd5288c3d014456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f78b99b08411d" /><Relationship Type="http://schemas.openxmlformats.org/officeDocument/2006/relationships/notesSlide" Target="/ppt/notesSlides/notesSlide17.xml" Id="Re6684fe4da234a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54B626-7AD4-48EF-B8FA-1A713313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9DA181-4072-4462-B2C3-CE3980E4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0"/>
            <a:ext cx="5238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853F5-6EF1-45C5-A3D2-2C395B4C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857250"/>
            <a:ext cx="34290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2E9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67571-55C3-42F1-98BF-733DB8A1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57300"/>
            <a:ext cx="34290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402A9-6000-442B-AE59-394AB56B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FE0FF"/>
                </a:solidFill>
              </a:defRPr>
            </a:pPr>
            <a:r>
              <a:rPr sz="1350" b="1">
                <a:solidFill>
                  <a:srgbClr val="BFE0FF"/>
                </a:solidFill>
              </a:rPr>
              <a:t>DATA ASSET ASSISTANT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DEAA74-0373-4317-A971-178A8568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数据资产助手方案汇报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08D2C-02C9-4BEF-836F-0C05FBA7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09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DEEFF"/>
                </a:solidFill>
              </a:defRPr>
            </a:pPr>
            <a:r>
              <a:rPr sz="1800" b="0">
                <a:solidFill>
                  <a:srgbClr val="DDEEFF"/>
                </a:solidFill>
              </a:rPr>
              <a:t>交付管理视角：把 AI 能力交付成可用、可控、可验收的资产治理闭环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781AE9-8E9C-4BD5-8BD6-EAD1EF58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FE0FF"/>
                </a:solidFill>
              </a:defRPr>
            </a:pPr>
            <a:r>
              <a:rPr sz="1500" b="0">
                <a:solidFill>
                  <a:srgbClr val="BFE0FF"/>
                </a:solidFill>
              </a:rPr>
              <a:t>首期场景：元数据治理 Agent 的智能元数据补全能力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12D7F-EA7A-4B16-828D-B6A153A5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76400"/>
            <a:ext cx="285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73763"/>
                </a:solidFill>
              </a:defRPr>
            </a:pPr>
            <a:r>
              <a:rPr sz="1950" b="1">
                <a:solidFill>
                  <a:srgbClr val="073763"/>
                </a:solidFill>
              </a:rPr>
              <a:t>汇报重点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073763"/>
                </a:solidFill>
              </a:defRPr>
            </a:pPr>
            <a:r>
              <a:rPr sz="1950" b="1">
                <a:solidFill>
                  <a:srgbClr val="073763"/>
                </a:solidFill>
              </a:rPr>
              <a:t>为什么做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073763"/>
                </a:solidFill>
              </a:defRPr>
            </a:pPr>
            <a:r>
              <a:rPr sz="1950" b="1">
                <a:solidFill>
                  <a:srgbClr val="073763"/>
                </a:solidFill>
              </a:rPr>
              <a:t>怎么建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073763"/>
                </a:solidFill>
              </a:defRPr>
            </a:pPr>
            <a:r>
              <a:rPr sz="1950" b="1">
                <a:solidFill>
                  <a:srgbClr val="073763"/>
                </a:solidFill>
              </a:rPr>
              <a:t>上下文/知识库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073763"/>
                </a:solidFill>
              </a:defRPr>
            </a:pPr>
            <a:r>
              <a:rPr sz="1950" b="1">
                <a:solidFill>
                  <a:srgbClr val="073763"/>
                </a:solidFill>
              </a:rPr>
              <a:t>AI 底座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073763"/>
                </a:solidFill>
              </a:defRPr>
            </a:pPr>
            <a:r>
              <a:rPr sz="1950" b="1">
                <a:solidFill>
                  <a:srgbClr val="073763"/>
                </a:solidFill>
              </a:rPr>
              <a:t>首期 Demo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073763"/>
                </a:solidFill>
              </a:defRPr>
            </a:pPr>
            <a:r>
              <a:rPr sz="1950" b="1">
                <a:solidFill>
                  <a:srgbClr val="073763"/>
                </a:solidFill>
              </a:rPr>
              <a:t>生产演进</a:t>
            </a:r>
          </a:p>
        </p:txBody>
      </p:sp>
    </p:spTree>
    <p:extLst>
      <p:ext uri="{BB962C8B-B14F-4D97-AF65-F5344CB8AC3E}">
        <p14:creationId xmlns:p14="http://schemas.microsoft.com/office/powerpoint/2010/main" val="10669937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284ABE-6B3D-4245-84B9-415A54C1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73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E1390-9B90-48F2-951F-C78165BE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AF3FF"/>
                </a:solidFill>
              </a:defRPr>
            </a:pPr>
            <a:r>
              <a:rPr sz="1200" b="1">
                <a:solidFill>
                  <a:srgbClr val="EAF3FF"/>
                </a:solidFill>
              </a:rPr>
              <a:t>01 / 汇报结论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A0963-37F4-4C1D-B37C-7A7AAD20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42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73763"/>
                </a:solidFill>
              </a:defRPr>
            </a:pPr>
            <a:r>
              <a:rPr sz="2700" b="1">
                <a:solidFill>
                  <a:srgbClr val="073763"/>
                </a:solidFill>
              </a:rPr>
              <a:t>本次汇报先回答交付侧最关心的四个问题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AABD9-CC31-4096-962B-DCDB92B6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F"/>
                </a:solidFill>
              </a:defRPr>
            </a:pPr>
            <a:r>
              <a:rPr sz="1350" b="0">
                <a:solidFill>
                  <a:srgbClr val="5A6B7F"/>
                </a:solidFill>
              </a:rPr>
              <a:t>不是把 AI 概念讲满，而是把交付目标、能力边界和落地路径讲清。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52B18-2A2D-41EB-9C9E-F968957C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476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4A944-BBC2-42ED-912A-2ADB4626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1BC40A-BCDE-4EA4-8E8C-C19AB35B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763"/>
                </a:solidFill>
              </a:defRPr>
            </a:pPr>
            <a:r>
              <a:rPr sz="1725" b="1">
                <a:solidFill>
                  <a:srgbClr val="073763"/>
                </a:solidFill>
              </a:rPr>
              <a:t>交付什么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815932-8AED-4DA0-B282-6E0F4B96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2057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一个嵌入数小智的数据资产领域专家助手，能查、能补、能解释、能确认、能追踪。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A674E0-D0BF-4CE9-820F-CF1ADEA4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2476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18C834-BC98-43EF-860C-BE7D76CD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3AD5A7-BA3B-46AB-BE8D-9DD73BB9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860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763"/>
                </a:solidFill>
              </a:defRPr>
            </a:pPr>
            <a:r>
              <a:rPr sz="1725" b="1">
                <a:solidFill>
                  <a:srgbClr val="073763"/>
                </a:solidFill>
              </a:rPr>
              <a:t>AI 做什么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3375A-C372-4BB0-B82A-46844B5D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86050"/>
            <a:ext cx="2057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AI 负责理解、路由、生成候选、解释依据和编排工具，不直接绕过权限改生产数据。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E29A38-1F0F-42B3-9804-EAC816D0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2476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8E0CA9-B0F2-44A1-9B65-8E4D0904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ED3CC2-6688-4A6F-9A9C-A4903347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860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763"/>
                </a:solidFill>
              </a:defRPr>
            </a:pPr>
            <a:r>
              <a:rPr sz="1725" b="1">
                <a:solidFill>
                  <a:srgbClr val="073763"/>
                </a:solidFill>
              </a:rPr>
              <a:t>怎么落地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39C170-945F-4183-BEDF-C19D83CC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86050"/>
            <a:ext cx="2057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复用现有 Gateway、Java API、ES、Activiti、调度平台，先用 Demo 跑通最小闭环。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F7917C-FBA1-4909-BDD1-D9A0E45A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2286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BE0B00-DCFE-4790-BE7D-78FB5BB4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C647DA-1A28-47FC-AFBE-748D8215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8600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763"/>
                </a:solidFill>
              </a:defRPr>
            </a:pPr>
            <a:r>
              <a:rPr sz="1725" b="1">
                <a:solidFill>
                  <a:srgbClr val="073763"/>
                </a:solidFill>
              </a:rPr>
              <a:t>怎么验收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84951B-F83E-4875-AF35-60AA5F89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86050"/>
            <a:ext cx="18669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看首期元数据补全是否能从入口发起、生成候选、人工确认、提交留痕。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6C5BB9-FAA5-4A61-BD46-39483739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73763"/>
                </a:solidFill>
              </a:defRPr>
            </a:pPr>
            <a:r>
              <a:rPr sz="1800" b="1">
                <a:solidFill>
                  <a:srgbClr val="073763"/>
                </a:solidFill>
              </a:rPr>
              <a:t>交付管理口径：先交付一条能跑通、能复用、上下文可控、全程可审计的治理链路，再逐步扩展资产助手能力面。</a:t>
            </a:r>
          </a:p>
        </p:txBody>
      </p:sp>
    </p:spTree>
    <p:extLst>
      <p:ext uri="{BB962C8B-B14F-4D97-AF65-F5344CB8AC3E}">
        <p14:creationId xmlns:p14="http://schemas.microsoft.com/office/powerpoint/2010/main" val="2978463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779E31-374E-4B10-93BC-F34D67D5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73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1B14A-F1CC-4D7D-A8AB-43FA27CA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AF3FF"/>
                </a:solidFill>
              </a:defRPr>
            </a:pPr>
            <a:r>
              <a:rPr sz="1200" b="1">
                <a:solidFill>
                  <a:srgbClr val="EAF3FF"/>
                </a:solidFill>
              </a:rPr>
              <a:t>02 / 为什么现在做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83CF85-986B-4228-B4FF-A61CBBE2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42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73763"/>
                </a:solidFill>
              </a:defRPr>
            </a:pPr>
            <a:r>
              <a:rPr sz="2700" b="1">
                <a:solidFill>
                  <a:srgbClr val="073763"/>
                </a:solidFill>
              </a:rPr>
              <a:t>数据资产管理的痛点不是没有系统，而是流程散、上下文散、责任散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977AC-A854-4AE6-85ED-C9297DFC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F"/>
                </a:solidFill>
              </a:defRPr>
            </a:pPr>
            <a:r>
              <a:rPr sz="1350" b="0">
                <a:solidFill>
                  <a:srgbClr val="5A6B7F"/>
                </a:solidFill>
              </a:rPr>
              <a:t>资产助手要解决的是跨系统任务组织问题，不是再做一个入口页面。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94E08-0862-44B3-8048-8F0867AF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0F5B8-8FA9-403D-B923-6E069E05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2C563-D375-4553-894E-77230459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763"/>
                </a:solidFill>
              </a:defRPr>
            </a:pPr>
            <a:r>
              <a:rPr sz="1725" b="1">
                <a:solidFill>
                  <a:srgbClr val="073763"/>
                </a:solidFill>
              </a:rPr>
              <a:t>用户侧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168CD-ABB9-45E1-8C5C-6ECE5E61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28194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找表、查字段、补备注、看血缘、看安全等级经常要跨多个页面和系统。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BE01BF-B33E-49A9-94EE-177721B2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9255BD-C083-4514-BEF8-F73FBF50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B0AC1-D740-418A-85C7-95A6F87B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860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763"/>
                </a:solidFill>
              </a:defRPr>
            </a:pPr>
            <a:r>
              <a:rPr sz="1725" b="1">
                <a:solidFill>
                  <a:srgbClr val="073763"/>
                </a:solidFill>
              </a:rPr>
              <a:t>交付侧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06CD4-826F-494C-8C36-1410F597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86050"/>
            <a:ext cx="28194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流程能跑，但证据、确认、状态、异常处理没有被一个任务链路串起来。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2E3F9A-C4E2-404C-9400-A4852AD0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0548BE-A8C2-46AA-90DC-EFB09007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CA300-E803-4B7D-ADB6-6E883F0B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860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763"/>
                </a:solidFill>
              </a:defRPr>
            </a:pPr>
            <a:r>
              <a:rPr sz="1725" b="1">
                <a:solidFill>
                  <a:srgbClr val="073763"/>
                </a:solidFill>
              </a:rPr>
              <a:t>管理侧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A4A5A5-376B-41E4-BB51-1693DEEE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86050"/>
            <a:ext cx="28194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很难回答 AI 生成了什么、依据是什么、谁确认了、是否进入流程。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E8AAA2-39D2-4734-9368-8BF98D23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62500"/>
            <a:ext cx="97536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8C9240-EC41-46F8-A65D-945B11FD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81575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73763"/>
                </a:solidFill>
              </a:defRPr>
            </a:pPr>
            <a:r>
              <a:rPr sz="1800" b="1">
                <a:solidFill>
                  <a:srgbClr val="073763"/>
                </a:solidFill>
              </a:rPr>
              <a:t>建设目标：让分散的平台能力被 AI 组织成一次可交互、可确认、可追踪的数据资产治理任务。</a:t>
            </a:r>
          </a:p>
        </p:txBody>
      </p:sp>
    </p:spTree>
    <p:extLst>
      <p:ext uri="{BB962C8B-B14F-4D97-AF65-F5344CB8AC3E}">
        <p14:creationId xmlns:p14="http://schemas.microsoft.com/office/powerpoint/2010/main" val="1067059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4FCDDB-F51A-46BE-A6C1-09E6A342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73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D49F7-B9F3-4BEA-ACE1-8C0382A2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AF3FF"/>
                </a:solidFill>
              </a:defRPr>
            </a:pPr>
            <a:r>
              <a:rPr sz="1200" b="1">
                <a:solidFill>
                  <a:srgbClr val="EAF3FF"/>
                </a:solidFill>
              </a:rPr>
              <a:t>03 / 交付定位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F013D-F53C-437E-AA60-4AEA1CFC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42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73763"/>
                </a:solidFill>
              </a:defRPr>
            </a:pPr>
            <a:r>
              <a:rPr sz="2700" b="1">
                <a:solidFill>
                  <a:srgbClr val="073763"/>
                </a:solidFill>
              </a:rPr>
              <a:t>数据资产助手是数小智下的资产治理专家，不替代现有平台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28AFA-6BD8-40AC-BA17-43945DDE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F"/>
                </a:solidFill>
              </a:defRPr>
            </a:pPr>
            <a:r>
              <a:rPr sz="1350" b="0">
                <a:solidFill>
                  <a:srgbClr val="5A6B7F"/>
                </a:solidFill>
              </a:rPr>
              <a:t>交付边界越清楚，后续越容易试点、推广和验收。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5EEC9-3325-43FC-A934-0D18B9BC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857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70FBA-9FEB-47C8-BC8A-6852DC29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76475"/>
            <a:ext cx="251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73763"/>
                </a:solidFill>
              </a:defRPr>
            </a:pPr>
            <a:r>
              <a:rPr sz="1200" b="1">
                <a:solidFill>
                  <a:srgbClr val="073763"/>
                </a:solidFill>
              </a:rPr>
              <a:t>数小智：统一入口和主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BE79E1-18C3-4FF0-B89E-2FCF2B09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90750"/>
            <a:ext cx="2952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037DB-D57D-4295-AD99-2952039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76475"/>
            <a:ext cx="2609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73763"/>
                </a:solidFill>
              </a:defRPr>
            </a:pPr>
            <a:r>
              <a:rPr sz="1200" b="1">
                <a:solidFill>
                  <a:srgbClr val="073763"/>
                </a:solidFill>
              </a:rPr>
              <a:t>数据资产助手：领域专家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6BCBF-9456-4FDE-8EB7-CB0E3B16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857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963C1B-7AB7-4CDD-A49C-9A1A1402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76475"/>
            <a:ext cx="251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73763"/>
                </a:solidFill>
              </a:defRPr>
            </a:pPr>
            <a:r>
              <a:rPr sz="1200" b="1">
                <a:solidFill>
                  <a:srgbClr val="073763"/>
                </a:solidFill>
              </a:rPr>
              <a:t>现有平台能力：确定性执行层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4645EF-4100-49D7-BC28-D2AAF8F5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6220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4C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4381C8-5FA7-4E1F-BFA8-92C858C4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6220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4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BD554C-0126-4D50-BDE9-A68694C0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5081C3-2B7E-4FD0-9046-094EBE20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B78AC7-0B1B-4F6E-B1EC-4BF28D80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337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763"/>
                </a:solidFill>
              </a:defRPr>
            </a:pPr>
            <a:r>
              <a:rPr sz="1725" b="1">
                <a:solidFill>
                  <a:srgbClr val="073763"/>
                </a:solidFill>
              </a:rPr>
              <a:t>负责接入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42BB19-EBC7-4ABC-9D9F-C020BB1A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33800"/>
            <a:ext cx="2438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自然语言入口、上下文传递、跨专家协同、结果汇总。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9AA339-BECD-4AA3-9E80-1349EBF7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952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387CA8-793B-4A28-9F78-90434DDB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903FD7-AA1B-487A-8539-C64B1E0D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33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763"/>
                </a:solidFill>
              </a:defRPr>
            </a:pPr>
            <a:r>
              <a:rPr sz="1725" b="1">
                <a:solidFill>
                  <a:srgbClr val="073763"/>
                </a:solidFill>
              </a:rPr>
              <a:t>负责组织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8BBEA2-C6AB-41E8-A76F-891BBE64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33800"/>
            <a:ext cx="2533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Prompt Router、Control Mode Router、子 Agent、Tool、人工确认。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FCD5DD-DF49-42DB-84FA-BA07456A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808BBA-7244-4021-BDE5-0E0C53CB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2D4BA4-8A4A-4543-A928-1D36D3F5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337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763"/>
                </a:solidFill>
              </a:defRPr>
            </a:pPr>
            <a:r>
              <a:rPr sz="1725" b="1">
                <a:solidFill>
                  <a:srgbClr val="073763"/>
                </a:solidFill>
              </a:rPr>
              <a:t>负责执行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CF0FED-C488-495A-BEF8-F47071D3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33800"/>
            <a:ext cx="2438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Gateway、Java API、ES、Activiti、调度平台、GoldenDB、审计。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CBE95-E460-4D3B-8853-07020B9D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2925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73763"/>
                </a:solidFill>
              </a:defRPr>
            </a:pPr>
            <a:r>
              <a:rPr sz="1950" b="1">
                <a:solidFill>
                  <a:srgbClr val="073763"/>
                </a:solidFill>
              </a:rPr>
              <a:t>一句话：AI 负责把任务组织好，平台负责把动作执行稳。</a:t>
            </a:r>
          </a:p>
        </p:txBody>
      </p:sp>
    </p:spTree>
    <p:extLst>
      <p:ext uri="{BB962C8B-B14F-4D97-AF65-F5344CB8AC3E}">
        <p14:creationId xmlns:p14="http://schemas.microsoft.com/office/powerpoint/2010/main" val="6873048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5496E9-E133-4EDC-95F6-9C08039D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73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A8CA9-776C-40B8-8061-F2B03B8D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AF3FF"/>
                </a:solidFill>
              </a:defRPr>
            </a:pPr>
            <a:r>
              <a:rPr sz="1200" b="1">
                <a:solidFill>
                  <a:srgbClr val="EAF3FF"/>
                </a:solidFill>
              </a:rPr>
              <a:t>04 / 产品形态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DE1BB-2BDC-43AA-B03A-8E3B39D6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42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73763"/>
                </a:solidFill>
              </a:defRPr>
            </a:pPr>
            <a:r>
              <a:rPr sz="2700" b="1">
                <a:solidFill>
                  <a:srgbClr val="073763"/>
                </a:solidFill>
              </a:rPr>
              <a:t>交付出来的不是聊天框，而是一套资产治理工作台体验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6CEE6-3509-4CA0-9BF8-0BB300C4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F"/>
                </a:solidFill>
              </a:defRPr>
            </a:pPr>
            <a:r>
              <a:rPr sz="1350" b="0">
                <a:solidFill>
                  <a:srgbClr val="5A6B7F"/>
                </a:solidFill>
              </a:rPr>
              <a:t>对用户要接地气：少切页面、少猜字段、少手填备注、少追流程。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EAB43-4CC1-44BE-96BB-E3E388A8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38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304FA-592B-4F73-8458-CF6894DD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933724-823F-416F-897A-33EC95E8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763"/>
                </a:solidFill>
              </a:defRPr>
            </a:pPr>
            <a:r>
              <a:rPr sz="1725" b="1">
                <a:solidFill>
                  <a:srgbClr val="073763"/>
                </a:solidFill>
              </a:rPr>
              <a:t>对话入口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DC93B-A51F-4EBB-9EB5-536B1771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19621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自然语言发起找表、治理、盘点、诊断、生成报告。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21324F-F91F-45DC-A70C-7CB1A73D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238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0368D0-A10E-49C4-8FAF-E73760D7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495F24-C649-4D7C-9927-0167722C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907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763"/>
                </a:solidFill>
              </a:defRPr>
            </a:pPr>
            <a:r>
              <a:rPr sz="1725" b="1">
                <a:solidFill>
                  <a:srgbClr val="073763"/>
                </a:solidFill>
              </a:rPr>
              <a:t>结果卡片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730356-9C48-4F61-9D46-A64B37A1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90800"/>
            <a:ext cx="19621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展示候选表、字段摘要、血缘影响、安全风险和标准匹配。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234A95-6D5B-4024-819C-052345F9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238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42766E-08E9-4A24-9DBB-088E7532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6F6F2A-C610-42DC-B66E-8940DFE0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907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763"/>
                </a:solidFill>
              </a:defRPr>
            </a:pPr>
            <a:r>
              <a:rPr sz="1725" b="1">
                <a:solidFill>
                  <a:srgbClr val="073763"/>
                </a:solidFill>
              </a:rPr>
              <a:t>确认卡片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47D952-9688-424C-837A-7F48A0DB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90800"/>
            <a:ext cx="19621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写回、提交、审批前必须二次确认，保留用户确认记录。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CB62A4-C5D8-48EE-9C28-D82FAE81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38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436730-97F5-4866-8B2C-D7249976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288ED8-A1CD-49A8-B009-7863BA33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907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763"/>
                </a:solidFill>
              </a:defRPr>
            </a:pPr>
            <a:r>
              <a:rPr sz="1725" b="1">
                <a:solidFill>
                  <a:srgbClr val="073763"/>
                </a:solidFill>
              </a:rPr>
              <a:t>任务进度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2B55DA-1669-4571-9AFC-DB349537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90800"/>
            <a:ext cx="19621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展示采集、扫描、治理流程、补偿和超时提醒状态。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FDA74F-A801-4D8A-A268-85D306E4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9906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E6A3E3-09B1-48B0-A6AF-7A6E17D7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244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73763"/>
                </a:solidFill>
              </a:defRPr>
            </a:pPr>
            <a:r>
              <a:rPr sz="1725" b="1">
                <a:solidFill>
                  <a:srgbClr val="073763"/>
                </a:solidFill>
              </a:rPr>
              <a:t>交付验收关注：用户能否在一个助手入口里完成“查上下文 -&gt; 看建议 -&gt; 改候选 -&gt; 确认 -&gt; 提交流程 -&gt; 看进度”。</a:t>
            </a:r>
          </a:p>
        </p:txBody>
      </p:sp>
    </p:spTree>
    <p:extLst>
      <p:ext uri="{BB962C8B-B14F-4D97-AF65-F5344CB8AC3E}">
        <p14:creationId xmlns:p14="http://schemas.microsoft.com/office/powerpoint/2010/main" val="13177583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CDE435-D0E8-44FF-BBB0-E6A45607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73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43A5E6-6459-4299-9B27-ED907FFB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AF3FF"/>
                </a:solidFill>
              </a:defRPr>
            </a:pPr>
            <a:r>
              <a:rPr sz="1200" b="1">
                <a:solidFill>
                  <a:srgbClr val="EAF3FF"/>
                </a:solidFill>
              </a:rPr>
              <a:t>05 / AI 能力重点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21F2E-A5FA-4776-8406-4CF016D4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42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73763"/>
                </a:solidFill>
              </a:defRPr>
            </a:pPr>
            <a:r>
              <a:rPr sz="2700" b="1">
                <a:solidFill>
                  <a:srgbClr val="073763"/>
                </a:solidFill>
              </a:rPr>
              <a:t>资产助手使用的 AI 能力重点在“理解、编排、生成和解释”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DB508-D8E2-4C50-BF43-3986C9BF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F"/>
                </a:solidFill>
              </a:defRPr>
            </a:pPr>
            <a:r>
              <a:rPr sz="1350" b="0">
                <a:solidFill>
                  <a:srgbClr val="5A6B7F"/>
                </a:solidFill>
              </a:rPr>
              <a:t>大模型不是单独办业务，它和 Agent、Tool、确认、审计一起形成可控闭环。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FE2741-102F-4451-B5E2-F49DBDFE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143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1C51F-2A9F-43BE-8CCD-ED905FBC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62FA5-B922-4A9F-BFCA-B307E049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763"/>
                </a:solidFill>
              </a:defRPr>
            </a:pPr>
            <a:r>
              <a:rPr sz="1725" b="1">
                <a:solidFill>
                  <a:srgbClr val="073763"/>
                </a:solidFill>
              </a:rPr>
              <a:t>理解用户问题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B3B71-FBCD-48EA-A143-693E5C6D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识别说明、查询、办理、诊断、生成、调度、确认等 Prompt 类型。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4432E-66BC-4A6D-A55C-741540C7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143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F3513F-257C-46FA-92B0-5D5C2E6D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76C0DE-B25B-4A44-93AA-3A4F9BE0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860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763"/>
                </a:solidFill>
              </a:defRPr>
            </a:pPr>
            <a:r>
              <a:rPr sz="1725" b="1">
                <a:solidFill>
                  <a:srgbClr val="073763"/>
                </a:solidFill>
              </a:rPr>
              <a:t>选择执行模式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82A028-BB54-44B9-92DD-3BF6CD69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86050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Control Mode Router 决定走 Skill、Tool、状态机、Loop、流式生成或人工确认。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E9D7E8-19AD-4943-A754-BFEE24A7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143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AC9D1B-0978-403E-9856-99AAE975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6A5ED3-3D43-4DA1-B75D-B420026A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860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763"/>
                </a:solidFill>
              </a:defRPr>
            </a:pPr>
            <a:r>
              <a:rPr sz="1725" b="1">
                <a:solidFill>
                  <a:srgbClr val="073763"/>
                </a:solidFill>
              </a:rPr>
              <a:t>调用平台能力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CE0CF3-80A5-40E0-AA0B-7E845327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86050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通过 Tool Adapter 调用数据地图、标准、安全扫描、血缘、流程等能力。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5EAB68-50DF-4373-8F6F-E01A3CBA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143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20C1A4-3791-40D5-A506-9A0BBAF6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01CB1A-BFB1-4D78-8D61-9F844454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763"/>
                </a:solidFill>
              </a:defRPr>
            </a:pPr>
            <a:r>
              <a:rPr sz="1725" b="1">
                <a:solidFill>
                  <a:srgbClr val="073763"/>
                </a:solidFill>
              </a:rPr>
              <a:t>生成候选内容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B4DAA8-0A4B-44FC-BC2F-800BB3A4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05300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生成中文名、字段备注、安全等级建议、治理报告和说明口径。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3ABD1E-70A5-4BCE-A26D-6CC8B856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143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6F79E1-71CB-4DA4-8E9F-8E1B0BBF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B5362A-0D64-4A4B-907B-EE50A49C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052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763"/>
                </a:solidFill>
              </a:defRPr>
            </a:pPr>
            <a:r>
              <a:rPr sz="1725" b="1">
                <a:solidFill>
                  <a:srgbClr val="073763"/>
                </a:solidFill>
              </a:rPr>
              <a:t>解释依据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C22F6E-2C13-431C-AFFA-61EA77FF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05300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输出置信度、命中规则、字段上下文、标准映射和安全依据。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00E150-4AB5-46FD-858B-D7F07A90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3143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958C49-75EE-44BC-AF29-0E2950F8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22A4BD-D633-43DD-8D0E-F1AE8101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052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763"/>
                </a:solidFill>
              </a:defRPr>
            </a:pPr>
            <a:r>
              <a:rPr sz="1725" b="1">
                <a:solidFill>
                  <a:srgbClr val="073763"/>
                </a:solidFill>
              </a:rPr>
              <a:t>沉淀反馈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08AC5E-6A1B-4B69-965E-EE98793A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05300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把用户确认、修改、失败原因和调用链路纳入后续优化。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9C0FC0-7791-477D-9C5B-4796F10B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72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73763"/>
                </a:solidFill>
              </a:defRPr>
            </a:pPr>
            <a:r>
              <a:rPr sz="1650" b="1">
                <a:solidFill>
                  <a:srgbClr val="073763"/>
                </a:solidFill>
              </a:rPr>
              <a:t>交付侧要强调：AI 能力不是“自动替人拍板”，而是把候选、依据、确认和追踪做成标准流程。</a:t>
            </a:r>
          </a:p>
        </p:txBody>
      </p:sp>
    </p:spTree>
    <p:extLst>
      <p:ext uri="{BB962C8B-B14F-4D97-AF65-F5344CB8AC3E}">
        <p14:creationId xmlns:p14="http://schemas.microsoft.com/office/powerpoint/2010/main" val="2379084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49D9B6-A9AE-4276-9773-5DF7D171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73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861DC-CFDB-44CE-9C99-8566506C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AF3FF"/>
                </a:solidFill>
              </a:defRPr>
            </a:pPr>
            <a:r>
              <a:rPr sz="1200" b="1">
                <a:solidFill>
                  <a:srgbClr val="EAF3FF"/>
                </a:solidFill>
              </a:rPr>
              <a:t>06 / AI 基础能力底座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C4CAB-9C7C-49D6-B4C5-47412580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42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73763"/>
                </a:solidFill>
              </a:defRPr>
            </a:pPr>
            <a:r>
              <a:rPr sz="2700" b="1">
                <a:solidFill>
                  <a:srgbClr val="073763"/>
                </a:solidFill>
              </a:rPr>
              <a:t>要让资产助手可交付，必须先把 AI 基础能力做成平台底座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FED13-06E5-4558-A885-D459C3C4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F"/>
                </a:solidFill>
              </a:defRPr>
            </a:pPr>
            <a:r>
              <a:rPr sz="1350" b="0">
                <a:solidFill>
                  <a:srgbClr val="5A6B7F"/>
                </a:solidFill>
              </a:rPr>
              <a:t>这些能力决定后续能不能从一个 Demo 扩展到多个场景、多个专家 Agent。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63DF2B-3B56-40E5-BA36-0A290068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01CC8-1FF5-44D6-B0CC-A528567B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240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73763"/>
                </a:solidFill>
              </a:defRPr>
            </a:pPr>
            <a:r>
              <a:rPr sz="1650" b="1">
                <a:solidFill>
                  <a:srgbClr val="073763"/>
                </a:solidFill>
              </a:rPr>
              <a:t>内网大模型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BBFF7-DE89-41F6-BC87-E0E03D9A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05075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中文理解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结构化输出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Tool Calling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7DD5F-4558-40AB-A6FD-00A3056B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52625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A6FC28-31DE-44DA-B545-AD7DA6E2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240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73763"/>
                </a:solidFill>
              </a:defRPr>
            </a:pPr>
            <a:r>
              <a:rPr sz="1650" b="1">
                <a:solidFill>
                  <a:srgbClr val="073763"/>
                </a:solidFill>
              </a:rPr>
              <a:t>Prompt Router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F1D4AC-ACA6-49DA-99C3-61120CB5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05075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问题分类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风险判断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参数抽取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C3949A-DEDC-4FDD-BF3D-FF71EB4D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5E2BC9-B3C4-49C2-86D5-476E56C7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240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73763"/>
                </a:solidFill>
              </a:defRPr>
            </a:pPr>
            <a:r>
              <a:rPr sz="1650" b="1">
                <a:solidFill>
                  <a:srgbClr val="073763"/>
                </a:solidFill>
              </a:rPr>
              <a:t>执行模式路由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AC3F71-1455-4B18-A1D6-53E933C6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05075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Skill / Tool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State / Loop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Confirm / Scheduler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4242C7-F8F0-4501-860E-40B905E4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52625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902A8F-8FDA-49F5-8C00-D9683B32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240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73763"/>
                </a:solidFill>
              </a:defRPr>
            </a:pPr>
            <a:r>
              <a:rPr sz="1650" b="1">
                <a:solidFill>
                  <a:srgbClr val="073763"/>
                </a:solidFill>
              </a:rPr>
              <a:t>LangGraph 编排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82A67A-0B91-4337-8D48-2C936120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505075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状态流转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子 Agent 协同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失败恢复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457909-0F25-4269-A043-F9101F91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5759AF-FAFF-47F6-ADE2-E4FD8226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385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73763"/>
                </a:solidFill>
              </a:defRPr>
            </a:pPr>
            <a:r>
              <a:rPr sz="1650" b="1">
                <a:solidFill>
                  <a:srgbClr val="073763"/>
                </a:solidFill>
              </a:rPr>
              <a:t>Tool / Agent 网关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1A0232-7A90-4975-A144-C34B29A6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19575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工具注册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鉴权策略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审计观测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C898D8-6359-4C02-97E2-24C65708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67125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F0C26B-1740-4434-BAF8-BBFEEC83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8385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73763"/>
                </a:solidFill>
              </a:defRPr>
            </a:pPr>
            <a:r>
              <a:rPr sz="1650" b="1">
                <a:solidFill>
                  <a:srgbClr val="073763"/>
                </a:solidFill>
              </a:rPr>
              <a:t>上下文与知识库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88D998-EF07-40EA-84E2-CBCA66B4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219575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知识库召回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任务证据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裁剪脱敏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14F743-6965-4A1D-83F5-3A2094D2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67125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CA0944-0AB1-42E6-91B0-E55EC4DE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385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73763"/>
                </a:solidFill>
              </a:defRPr>
            </a:pPr>
            <a:r>
              <a:rPr sz="1650" b="1">
                <a:solidFill>
                  <a:srgbClr val="073763"/>
                </a:solidFill>
              </a:rPr>
              <a:t>调度系统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0E4763-F255-4C13-B147-C97BD1AF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219575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异步轮询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失败补偿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超时提醒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CC7979-E507-42B3-A481-138A0973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67125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67370D-5C91-41A7-BF62-D04699EB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385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73763"/>
                </a:solidFill>
              </a:defRPr>
            </a:pPr>
            <a:r>
              <a:rPr sz="1650" b="1">
                <a:solidFill>
                  <a:srgbClr val="073763"/>
                </a:solidFill>
              </a:rPr>
              <a:t>可观测平台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6EF76A-881C-41E2-AE78-679B8D71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219575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OTel Trace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Langfuse Prompt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反馈评估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0BBD70-F032-460F-8A14-B4D5C1E6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990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3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0B4412-A4C4-42F6-9E2E-1F50A411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673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底座口径：先把上下文、知识库、路由、工具和观测做稳，再支撑多场景复用。</a:t>
            </a:r>
          </a:p>
        </p:txBody>
      </p:sp>
    </p:spTree>
    <p:extLst>
      <p:ext uri="{BB962C8B-B14F-4D97-AF65-F5344CB8AC3E}">
        <p14:creationId xmlns:p14="http://schemas.microsoft.com/office/powerpoint/2010/main" val="10525829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EA19BE-0CD8-4978-9AF5-D5CE0AD7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73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0A9FC-931C-4558-93BE-70C241E2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AF3FF"/>
                </a:solidFill>
              </a:defRPr>
            </a:pPr>
            <a:r>
              <a:rPr sz="1200" b="1">
                <a:solidFill>
                  <a:srgbClr val="EAF3FF"/>
                </a:solidFill>
              </a:rPr>
              <a:t>07 / 架构落地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D99A7-F1E7-4F19-8398-C1FBBB07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42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73763"/>
                </a:solidFill>
              </a:defRPr>
            </a:pPr>
            <a:r>
              <a:rPr sz="2700" b="1">
                <a:solidFill>
                  <a:srgbClr val="073763"/>
                </a:solidFill>
              </a:rPr>
              <a:t>交付架构采用“AI 编排在上，现有平台能力在下”的分层方式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2FE66-1A51-4B01-B6FA-0DF4E8AA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F"/>
                </a:solidFill>
              </a:defRPr>
            </a:pPr>
            <a:r>
              <a:rPr sz="1350" b="0">
                <a:solidFill>
                  <a:srgbClr val="5A6B7F"/>
                </a:solidFill>
              </a:rPr>
              <a:t>这样既能体现 AI 能力，又不破坏已有权限、流程和审计体系。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297734-160F-4493-8238-0BF183FA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76450"/>
            <a:ext cx="9525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FC5F1-277D-45C1-B3A6-F453AFF1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812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3763"/>
                </a:solidFill>
              </a:defRPr>
            </a:pPr>
            <a:r>
              <a:rPr sz="1350" b="1">
                <a:solidFill>
                  <a:srgbClr val="073763"/>
                </a:solidFill>
              </a:rPr>
              <a:t>用户入口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635106-7A18-4ADF-BCFB-AD091AE7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8122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数小智入口 / 数据资产助手面板 / 确认卡片 / 任务进度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77D4DB-D20B-49B1-AE9F-92ABC20C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28900"/>
            <a:ext cx="9525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FCABF0-9336-4E6B-AC59-319E02A9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336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3763"/>
                </a:solidFill>
              </a:defRPr>
            </a:pPr>
            <a:r>
              <a:rPr sz="1350" b="1">
                <a:solidFill>
                  <a:srgbClr val="073763"/>
                </a:solidFill>
              </a:rPr>
              <a:t>AI 助手服务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AA781-90E8-461A-AB0D-65022302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336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FastAPI / 会话管理 / 上下文管理 / 知识库调用 / 确认管理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0DEC0-1AD7-4BF9-A423-A7EEA664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81350"/>
            <a:ext cx="9525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971C64-4AF1-400C-B446-7B039BD9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861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3763"/>
                </a:solidFill>
              </a:defRPr>
            </a:pPr>
            <a:r>
              <a:rPr sz="1350" b="1">
                <a:solidFill>
                  <a:srgbClr val="073763"/>
                </a:solidFill>
              </a:rPr>
              <a:t>Agent 编排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CD35BB-CDC3-40B8-B2E1-1F8CB55A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8612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LangGraph / Prompt Router / Control Mode Router / 子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B34C4C-D94F-43FE-BE50-3D672B37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33800"/>
            <a:ext cx="9525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53E44-32D1-42FC-9089-B4C746CD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385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3763"/>
                </a:solidFill>
              </a:defRPr>
            </a:pPr>
            <a:r>
              <a:rPr sz="1350" b="1">
                <a:solidFill>
                  <a:srgbClr val="073763"/>
                </a:solidFill>
              </a:rPr>
              <a:t>工具接入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8CBDDF-6064-40DE-9DFC-EE99E296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385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Tool Adapter / Tool Registry / Agent 网关 / MCP 演进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DE80A5-8CB5-403A-BB27-3AA656EB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86250"/>
            <a:ext cx="9525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7F9878-AAE0-4C64-B2AE-1F9C40A0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910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3763"/>
                </a:solidFill>
              </a:defRPr>
            </a:pPr>
            <a:r>
              <a:rPr sz="1350" b="1">
                <a:solidFill>
                  <a:srgbClr val="073763"/>
                </a:solidFill>
              </a:rPr>
              <a:t>平台能力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4A5B18-FAD0-48F1-B03B-779906C7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9102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Gateway / Java API / ES / Activiti / 调度平台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5F6AB0-A466-495C-A238-2B6EB10E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38700"/>
            <a:ext cx="9525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C59FEE-AC4F-40E2-AB81-B569910C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434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3763"/>
                </a:solidFill>
              </a:defRPr>
            </a:pPr>
            <a:r>
              <a:rPr sz="1350" b="1">
                <a:solidFill>
                  <a:srgbClr val="073763"/>
                </a:solidFill>
              </a:rPr>
              <a:t>数据与观测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400AF8-1E1F-4B07-B04A-4B6B52C5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434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Redis / GoldenDB / OpenTelemetry / Langfuse / 审计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C41A86-17F5-41D1-9A98-596A5F84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810250"/>
            <a:ext cx="967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73763"/>
                </a:solidFill>
              </a:defRPr>
            </a:pPr>
            <a:r>
              <a:rPr sz="1650" b="1">
                <a:solidFill>
                  <a:srgbClr val="073763"/>
                </a:solidFill>
              </a:rPr>
              <a:t>交付原则：新增 AI 编排层、上下文与知识库调用层、工具适配层，优先复用现有平台能力。</a:t>
            </a:r>
          </a:p>
        </p:txBody>
      </p:sp>
    </p:spTree>
    <p:extLst>
      <p:ext uri="{BB962C8B-B14F-4D97-AF65-F5344CB8AC3E}">
        <p14:creationId xmlns:p14="http://schemas.microsoft.com/office/powerpoint/2010/main" val="3168799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CB42B6-268F-40DF-8ADF-C09B0FFE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73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64363-440C-412F-993B-71DFE4FB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AF3FF"/>
                </a:solidFill>
              </a:defRPr>
            </a:pPr>
            <a:r>
              <a:rPr sz="1200" b="1">
                <a:solidFill>
                  <a:srgbClr val="EAF3FF"/>
                </a:solidFill>
              </a:rPr>
              <a:t>08 / 架构实现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4C231-F441-4701-B0B5-5F920346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42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73763"/>
                </a:solidFill>
              </a:defRPr>
            </a:pPr>
            <a:r>
              <a:rPr sz="2700" b="1">
                <a:solidFill>
                  <a:srgbClr val="073763"/>
                </a:solidFill>
              </a:rPr>
              <a:t>资产助手实现上分为入口、编排、工具、平台、状态和观测六层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F83E9-5EF9-4032-A536-15AD2565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F"/>
                </a:solidFill>
              </a:defRPr>
            </a:pPr>
            <a:r>
              <a:rPr sz="1350" b="0">
                <a:solidFill>
                  <a:srgbClr val="5A6B7F"/>
                </a:solidFill>
              </a:rPr>
              <a:t>这页用于回答“到底怎么接到现有系统、AI 能力放在哪里”。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CA1E1-7ADD-4707-9BCE-758A6C9E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1571625" cy="204787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3ED2E-B8B8-42B2-AB53-9D18AFCB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15716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6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814BA-A76B-4162-A834-88B9F3F1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52675"/>
            <a:ext cx="1343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用户入口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3C0E61-2BDF-403A-8948-961BCD0A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12668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数小智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资产助手面板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确认卡片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0CAF5A-5873-45A4-967C-E2ED1488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23850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4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48C77-0E18-4647-8FE8-53F0763B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38375"/>
            <a:ext cx="1571625" cy="204787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6631A7-EF5B-49DA-9376-D3BD2CAA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38375"/>
            <a:ext cx="15716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F8B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6BEB88-E3AD-4F26-9C8C-E1DCB62D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52675"/>
            <a:ext cx="1343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接入与服务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404F5A-3A48-4481-9BF5-A326533A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90850"/>
            <a:ext cx="12668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现有 Gateway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FastAPI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会话管理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EB4D83-13AB-4D66-BDBA-F30E4863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23850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4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C46564-FBB3-4596-97EE-6DA503FB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38375"/>
            <a:ext cx="1571625" cy="204787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32FA05-FDC8-4381-95F5-417F93DA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38375"/>
            <a:ext cx="15716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6E6CE5-9C96-4540-98D7-D78BC635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52675"/>
            <a:ext cx="1343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AI 编排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49A42C-87AC-4450-8491-7BF95A16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90850"/>
            <a:ext cx="12668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LangGraph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Prompt Router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Control Router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035882-5DDB-44B9-9A6A-D6016B2C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23850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4C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D8E521-82E3-4972-977C-10F55C60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38375"/>
            <a:ext cx="1571625" cy="204787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08927F-BA49-4D9E-BC16-81FD555D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38375"/>
            <a:ext cx="15716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558F26-31C4-4A36-9E66-50AD78C5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52675"/>
            <a:ext cx="1343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工具治理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90B017-8CA7-4BB9-A3F0-A55625CC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0850"/>
            <a:ext cx="12668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Agent 网关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Tool Registry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Tool Adapter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2994B0-0929-4922-9825-E0CD53BC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23850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4C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7EC7AC-EA26-45F6-B45C-B32773F0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38375"/>
            <a:ext cx="1571625" cy="204787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320E28-D5BF-46E0-B8F0-73E56B47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38375"/>
            <a:ext cx="15716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73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6FD9BC-999E-4748-8577-4FBF2B19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52675"/>
            <a:ext cx="1343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平台能力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E53FAB-476A-4E3E-B38E-33A6196C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90850"/>
            <a:ext cx="12668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Java API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ES / Activiti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调度平台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2BB7A0-BC96-45D4-8C78-0AD4E06E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23850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4C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0B03D6-BF67-4773-A0C4-8DC1A9F6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238375"/>
            <a:ext cx="1571625" cy="204787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8A9AA5-DF1C-4A91-9A5D-9B6AD15B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238375"/>
            <a:ext cx="15716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241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5729DE-7B64-4C0D-881E-1AE55233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52675"/>
            <a:ext cx="1343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状态观测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93158F-1DA3-4E08-AB57-64DFAAC0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990850"/>
            <a:ext cx="12668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Redis / GoldenDB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OTel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Langfuse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C2A20A-EEDE-4F10-A919-741B54E1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0125"/>
            <a:ext cx="10401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23762B-C163-43A6-AD75-9610E727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81575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73763"/>
                </a:solidFill>
              </a:defRPr>
            </a:pPr>
            <a:r>
              <a:rPr sz="1575" b="1">
                <a:solidFill>
                  <a:srgbClr val="073763"/>
                </a:solidFill>
              </a:rPr>
              <a:t>关键边界：大模型不直连业务库，Agent 统一通过工具治理层调用受控能力；写操作必须进入确认和流程。</a:t>
            </a:r>
          </a:p>
        </p:txBody>
      </p:sp>
    </p:spTree>
    <p:extLst>
      <p:ext uri="{BB962C8B-B14F-4D97-AF65-F5344CB8AC3E}">
        <p14:creationId xmlns:p14="http://schemas.microsoft.com/office/powerpoint/2010/main" val="904013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30D37E-2A30-466B-931B-795625EC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73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15C9B-E678-4796-8DA1-2921E2BB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AF3FF"/>
                </a:solidFill>
              </a:defRPr>
            </a:pPr>
            <a:r>
              <a:rPr sz="1200" b="1">
                <a:solidFill>
                  <a:srgbClr val="EAF3FF"/>
                </a:solidFill>
              </a:rPr>
              <a:t>09 / AI 编排实现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A8FC8-E3EE-4155-8F17-575E053F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42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73763"/>
                </a:solidFill>
              </a:defRPr>
            </a:pPr>
            <a:r>
              <a:rPr sz="2700" b="1">
                <a:solidFill>
                  <a:srgbClr val="073763"/>
                </a:solidFill>
              </a:rPr>
              <a:t>Prompt Router 和 Control Mode Router 决定每个请求怎么执行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A1A36-88B1-4B76-AC58-398B0CD8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F"/>
                </a:solidFill>
              </a:defRPr>
            </a:pPr>
            <a:r>
              <a:rPr sz="1350" b="0">
                <a:solidFill>
                  <a:srgbClr val="5A6B7F"/>
                </a:solidFill>
              </a:rPr>
              <a:t>这页用于回答“为什么不是所有请求都走大模型自由发挥”。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E7361-8E8B-4F44-8193-02CDEE45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13519-CAF4-4669-9613-7B29A0B6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73763"/>
                </a:solidFill>
              </a:defRPr>
            </a:pPr>
            <a:r>
              <a:rPr sz="1800" b="1">
                <a:solidFill>
                  <a:srgbClr val="073763"/>
                </a:solidFill>
              </a:rPr>
              <a:t>用户输入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18D11-DBCC-432A-AB38-48187DCE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14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4C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7D20B-AA17-4271-9231-AD4ED675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E7E34B-3293-4C01-946D-7EBD1398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73763"/>
                </a:solidFill>
              </a:defRPr>
            </a:pPr>
            <a:r>
              <a:rPr sz="1650" b="1">
                <a:solidFill>
                  <a:srgbClr val="073763"/>
                </a:solidFill>
              </a:rPr>
              <a:t>Prompt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73763"/>
                </a:solidFill>
              </a:defRPr>
            </a:pPr>
            <a:r>
              <a:rPr sz="1650" b="1">
                <a:solidFill>
                  <a:srgbClr val="073763"/>
                </a:solidFill>
              </a:rPr>
              <a:t>Router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6C43A8-8C8C-4060-8C4E-E5529980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71800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判断问题类型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抽取关键参数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识别风险等级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EF6B21-5C69-4E18-8B02-A158D618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14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4C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BE5CC-5F8D-4364-B73A-F6A262EE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9075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D0D28A-99F4-4A48-A742-30011936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43150"/>
            <a:ext cx="177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73763"/>
                </a:solidFill>
              </a:defRPr>
            </a:pPr>
            <a:r>
              <a:rPr sz="1575" b="1">
                <a:solidFill>
                  <a:srgbClr val="073763"/>
                </a:solidFill>
              </a:rPr>
              <a:t>Control Mode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73763"/>
                </a:solidFill>
              </a:defRPr>
            </a:pPr>
            <a:r>
              <a:rPr sz="1575" b="1">
                <a:solidFill>
                  <a:srgbClr val="073763"/>
                </a:solidFill>
              </a:rPr>
              <a:t>Router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682D76-E446-4288-A228-5949D3CE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选择 Skill / Tool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状态机 / Loop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流式 / 调度 / 确认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660AE3-6B9A-4FF4-8C5C-00BE36EA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14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4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313BA4-C858-40BF-8F3F-2C66967A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286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2968A5-469D-4BC0-B97D-A32E69F4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81250"/>
            <a:ext cx="157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73763"/>
                </a:solidFill>
              </a:defRPr>
            </a:pPr>
            <a:r>
              <a:rPr sz="1800" b="1">
                <a:solidFill>
                  <a:srgbClr val="073763"/>
                </a:solidFill>
              </a:rPr>
              <a:t>执行控制器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21A509-5E38-4DD1-B1AC-7955B147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0035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调用 Tool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组织子 Agent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输出卡片或任务状态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2EBAC4-00C7-470B-87FC-6F45CE7B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2095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BDF44D-FD0F-468B-AA1B-DC676751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91025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3763"/>
                </a:solidFill>
              </a:defRPr>
            </a:pPr>
            <a:r>
              <a:rPr sz="1275" b="1">
                <a:solidFill>
                  <a:srgbClr val="073763"/>
                </a:solidFill>
              </a:rPr>
              <a:t>Skill：规则说明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295285-9C01-4F4B-8B40-804F4E3F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86250"/>
            <a:ext cx="2095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2B6830-2AD0-4FDE-91DA-6D785DC3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391025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3763"/>
                </a:solidFill>
              </a:defRPr>
            </a:pPr>
            <a:r>
              <a:rPr sz="1275" b="1">
                <a:solidFill>
                  <a:srgbClr val="073763"/>
                </a:solidFill>
              </a:rPr>
              <a:t>Tool：明确查询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F3B785-F5CE-4382-B7BB-8178E07C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2095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FB7D34-A28D-4771-BA5D-3C12CCA3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91025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3763"/>
                </a:solidFill>
              </a:defRPr>
            </a:pPr>
            <a:r>
              <a:rPr sz="1275" b="1">
                <a:solidFill>
                  <a:srgbClr val="073763"/>
                </a:solidFill>
              </a:rPr>
              <a:t>State：流程办理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5C0ABC-4931-4BAA-A9C4-186E054C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86250"/>
            <a:ext cx="2095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87FB77-281F-43FF-878A-916EDB6B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91025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3763"/>
                </a:solidFill>
              </a:defRPr>
            </a:pPr>
            <a:r>
              <a:rPr sz="1275" b="1">
                <a:solidFill>
                  <a:srgbClr val="073763"/>
                </a:solidFill>
              </a:rPr>
              <a:t>Loop：诊断分析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FCCE30-69CC-4C28-9E58-586DBA9E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2095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9152FA-6EA4-46C7-8C13-2B87246A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00625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3763"/>
                </a:solidFill>
              </a:defRPr>
            </a:pPr>
            <a:r>
              <a:rPr sz="1275" b="1">
                <a:solidFill>
                  <a:srgbClr val="073763"/>
                </a:solidFill>
              </a:rPr>
              <a:t>Stream：报告生成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D9B178-A928-498C-81BA-A5BC846C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95850"/>
            <a:ext cx="2095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DD3514-58A2-4AE9-AEEB-0793254B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000625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3763"/>
                </a:solidFill>
              </a:defRPr>
            </a:pPr>
            <a:r>
              <a:rPr sz="1275" b="1">
                <a:solidFill>
                  <a:srgbClr val="073763"/>
                </a:solidFill>
              </a:rPr>
              <a:t>Scheduler：异步补偿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F0A44E-6909-45C8-87DF-2D1C2A07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95850"/>
            <a:ext cx="2095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096B67-9E7C-451D-A68D-93AF2F8D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00625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3763"/>
                </a:solidFill>
              </a:defRPr>
            </a:pPr>
            <a:r>
              <a:rPr sz="1275" b="1">
                <a:solidFill>
                  <a:srgbClr val="073763"/>
                </a:solidFill>
              </a:rPr>
              <a:t>Confirm：写操作确认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4A7B44-9E6D-40CC-A3D2-414F39E4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95850"/>
            <a:ext cx="2095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701901-75CB-440D-9EA6-4CBB0270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00625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3763"/>
                </a:solidFill>
              </a:defRPr>
            </a:pPr>
            <a:r>
              <a:rPr sz="1275" b="1">
                <a:solidFill>
                  <a:srgbClr val="073763"/>
                </a:solidFill>
              </a:rPr>
              <a:t>Handoff：专家转交</a:t>
            </a:r>
          </a:p>
        </p:txBody>
      </p:sp>
    </p:spTree>
    <p:extLst>
      <p:ext uri="{BB962C8B-B14F-4D97-AF65-F5344CB8AC3E}">
        <p14:creationId xmlns:p14="http://schemas.microsoft.com/office/powerpoint/2010/main" val="14076294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F66EB5-F807-4DFA-AA43-AE5C6D4B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73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AAD7C-5E7B-48D5-B889-352809B5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AF3FF"/>
                </a:solidFill>
              </a:defRPr>
            </a:pPr>
            <a:r>
              <a:rPr sz="1200" b="1">
                <a:solidFill>
                  <a:srgbClr val="EAF3FF"/>
                </a:solidFill>
              </a:rPr>
              <a:t>10 / 技术选型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B0D5A-1584-4E1B-B095-7A7B27A9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42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73763"/>
                </a:solidFill>
              </a:defRPr>
            </a:pPr>
            <a:r>
              <a:rPr sz="2700" b="1">
                <a:solidFill>
                  <a:srgbClr val="073763"/>
                </a:solidFill>
              </a:rPr>
              <a:t>技术选型优先服务交付闭环，而不是为了堆新技术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7C752-B0B4-4ECF-AF51-2CF56F9E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F"/>
                </a:solidFill>
              </a:defRPr>
            </a:pPr>
            <a:r>
              <a:rPr sz="1350" b="0">
                <a:solidFill>
                  <a:srgbClr val="5A6B7F"/>
                </a:solidFill>
              </a:rPr>
              <a:t>每个组件都对应一个明确的交付责任和风险边界。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96EA0-8A69-449F-AD5C-AD534C1D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858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73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F40DB-C8E7-48C2-9683-F4E6393F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09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组件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C3DE8D-CD1A-492A-824C-B420443A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09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交付责任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C0E9C-7922-451F-8F94-37F2E0EE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选择原因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13094A-02D8-45A8-8027-1653D6ED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1085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4162CE-89A1-45B7-AB3B-08C32398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098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73763"/>
                </a:solidFill>
              </a:defRPr>
            </a:pPr>
            <a:r>
              <a:rPr sz="1200" b="1">
                <a:solidFill>
                  <a:srgbClr val="073763"/>
                </a:solidFill>
              </a:rPr>
              <a:t>内网大模型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9CCB98-166A-438C-8A84-1825B7C1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0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理解、生成、结构化输出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686751-DC20-4659-ACBE-FA65D550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保障内部数据安全，支持 Tool Calling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181350-D9D9-40B6-BC2E-F2DB2FCA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085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2F49E0-8C66-43F2-83DC-275E8A4A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670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73763"/>
                </a:solidFill>
              </a:defRPr>
            </a:pPr>
            <a:r>
              <a:rPr sz="1200" b="1">
                <a:solidFill>
                  <a:srgbClr val="073763"/>
                </a:solidFill>
              </a:rPr>
              <a:t>LangGraph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FF1DB6-8E0A-4C38-AE52-6CA8A130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670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Agent 编排和状态流转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BC92BB-E9EA-4EB8-BF16-D239F5D4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承接多主控模式、确认节点和子 Agent 协同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E3D7A7-6DE7-4268-8625-B1DA1A25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085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2400E3-A1E9-4BFA-A430-A96E8287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242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73763"/>
                </a:solidFill>
              </a:defRPr>
            </a:pPr>
            <a:r>
              <a:rPr sz="1200" b="1">
                <a:solidFill>
                  <a:srgbClr val="073763"/>
                </a:solidFill>
              </a:rPr>
              <a:t>FastAPI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3D46EE-1317-4CFA-A156-278E31DD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24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AI 服务入口和 Tool Adapter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15ED8E-9083-4922-860B-33C0EF12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轻量承接对话、确认、任务查询和接口适配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6B44CC-0F60-42C4-9F73-C532FFCE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1085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76E58A-2376-4173-81E0-3ED4B595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814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73763"/>
                </a:solidFill>
              </a:defRPr>
            </a:pPr>
            <a:r>
              <a:rPr sz="1200" b="1">
                <a:solidFill>
                  <a:srgbClr val="073763"/>
                </a:solidFill>
              </a:rPr>
              <a:t>Agent 网关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1239CA-260C-4DD7-9453-42FE860A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814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工具调用治理入口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56CD04-78F5-46AA-BC24-3473FAF2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统一注册、权限、策略、限流、审计和观测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6300DF-7BE3-4649-858F-DA9FC088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1085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27F6F9-C4DA-4D04-91A7-ACE08262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386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73763"/>
                </a:solidFill>
              </a:defRPr>
            </a:pPr>
            <a:r>
              <a:rPr sz="1200" b="1">
                <a:solidFill>
                  <a:srgbClr val="073763"/>
                </a:solidFill>
              </a:rPr>
              <a:t>知识库 + 上下文管理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568581-FA71-4DBA-B995-0DDB4D8E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386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知识召回 / 上下文包 / 状态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9D07AF-186D-424A-9D5A-AB03AD7A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386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召回制度规则和历史经验，裁剪脱敏后再进入 Agent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AD7254-6A86-4BE4-A5B6-40D13AC5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85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30B669-6393-4FBD-A8FF-FF34B237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958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73763"/>
                </a:solidFill>
              </a:defRPr>
            </a:pPr>
            <a:r>
              <a:rPr sz="1200" b="1">
                <a:solidFill>
                  <a:srgbClr val="073763"/>
                </a:solidFill>
              </a:rPr>
              <a:t>Activiti + 调度平台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204EA2-BABD-4D11-A8EF-03D29A0B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95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流程与异步推进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4E1A1B-1C9B-49C3-9AA7-7F53C713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95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写操作走流程，长流程轮询、补偿、提醒走调度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58626E-219E-4373-BF0A-5FC9B225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85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6CB3F0-4625-4F1E-B775-90881052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530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73763"/>
                </a:solidFill>
              </a:defRPr>
            </a:pPr>
            <a:r>
              <a:rPr sz="1200" b="1">
                <a:solidFill>
                  <a:srgbClr val="073763"/>
                </a:solidFill>
              </a:rPr>
              <a:t>OpenTelemetry + Langfuse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3B2B83-0670-4319-99A8-D5C56219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530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链路和模型可观测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23B796-D541-49DF-9A19-E25F343E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53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看清 Prompt、Tool、Trace、反馈和失败原因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0C85B8-DBDF-469B-9715-AE8A0D1F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3763"/>
                </a:solidFill>
              </a:defRPr>
            </a:pPr>
            <a:r>
              <a:rPr sz="1500" b="1">
                <a:solidFill>
                  <a:srgbClr val="073763"/>
                </a:solidFill>
              </a:rPr>
              <a:t>选型口径：AI 负责理解和编排；知识库和上下文先被召回、裁剪、脱敏，确定性动作仍由平台承接。</a:t>
            </a:r>
          </a:p>
        </p:txBody>
      </p:sp>
    </p:spTree>
    <p:extLst>
      <p:ext uri="{BB962C8B-B14F-4D97-AF65-F5344CB8AC3E}">
        <p14:creationId xmlns:p14="http://schemas.microsoft.com/office/powerpoint/2010/main" val="10909806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63BCA7-7233-4945-A738-3E83B89B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73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8BAC2-ECA7-4EE7-A77C-01E1C810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AF3FF"/>
                </a:solidFill>
              </a:defRPr>
            </a:pPr>
            <a:r>
              <a:rPr sz="1200" b="1">
                <a:solidFill>
                  <a:srgbClr val="EAF3FF"/>
                </a:solidFill>
              </a:rPr>
              <a:t>11 / 首期实现链路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39F4A-EF40-48A1-8418-31614BB7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42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73763"/>
                </a:solidFill>
              </a:defRPr>
            </a:pPr>
            <a:r>
              <a:rPr sz="2700" b="1">
                <a:solidFill>
                  <a:srgbClr val="073763"/>
                </a:solidFill>
              </a:rPr>
              <a:t>智能元数据补全先汇聚上下文和知识库，再由 Agent 和 Tool 生成候选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9065A-6B63-4EFA-8C11-847571CF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F"/>
                </a:solidFill>
              </a:defRPr>
            </a:pPr>
            <a:r>
              <a:rPr sz="1350" b="0">
                <a:solidFill>
                  <a:srgbClr val="5A6B7F"/>
                </a:solidFill>
              </a:rPr>
              <a:t>这页用于回答“首期能力如何组织上下文、依赖哪些平台能力”。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9CB07-9BC8-49D8-8687-767D2FB1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4EBCA-8D14-4549-9419-C986606A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73763"/>
                </a:solidFill>
              </a:defRPr>
            </a:pPr>
            <a:r>
              <a:rPr sz="1650" b="1">
                <a:solidFill>
                  <a:srgbClr val="073763"/>
                </a:solidFill>
              </a:rPr>
              <a:t>元数据治理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30740-93A5-4619-8022-FB849C06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19400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4C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D0A37-EE84-43B0-A967-CAEC4632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00250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AD928-744E-4C52-BB6D-9C9B3E04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15265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73763"/>
                </a:solidFill>
              </a:defRPr>
            </a:pPr>
            <a:r>
              <a:rPr sz="1425" b="1">
                <a:solidFill>
                  <a:srgbClr val="073763"/>
                </a:solidFill>
              </a:rPr>
              <a:t>数据地图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8983CC-9B6F-4D9E-B905-71A1D4E2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57450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表字段上下文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1EBE33-88A1-4A06-938B-82AEB0F1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00250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4B3EFD-0AEA-4611-9571-0D41370A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15265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73763"/>
                </a:solidFill>
              </a:defRPr>
            </a:pPr>
            <a:r>
              <a:rPr sz="1425" b="1">
                <a:solidFill>
                  <a:srgbClr val="073763"/>
                </a:solidFill>
              </a:rPr>
              <a:t>数据标准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093E07-4450-421D-B546-DBBA8CA6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457450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标准映射依据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CC1D06-19FD-4694-B8A3-BAE19A67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143250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86041C-46CE-47D9-87A3-3FF82ED5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29565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73763"/>
                </a:solidFill>
              </a:defRPr>
            </a:pPr>
            <a:r>
              <a:rPr sz="1425" b="1">
                <a:solidFill>
                  <a:srgbClr val="073763"/>
                </a:solidFill>
              </a:rPr>
              <a:t>安全扫描 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6A2DC8-740D-4C53-AC76-AE1A412B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600450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敏感识别与等级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04439A-DB0E-478B-9581-10D23707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143250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72A80C-8BE6-4D64-B174-D63BF76A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29565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73763"/>
                </a:solidFill>
              </a:defRPr>
            </a:pPr>
            <a:r>
              <a:rPr sz="1425" b="1">
                <a:solidFill>
                  <a:srgbClr val="073763"/>
                </a:solidFill>
              </a:rPr>
              <a:t>血缘 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74FC52-DA30-4B44-BEE3-87356C3B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600450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上下游使用场景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77D1EB-EEF6-4D5D-A9BF-86C4282C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19400"/>
            <a:ext cx="71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4C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CA861D-D901-43B0-BC19-7F15F812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2571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6A7A54-DA40-496C-9027-D5FC612C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003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73763"/>
                </a:solidFill>
              </a:defRPr>
            </a:pPr>
            <a:r>
              <a:rPr sz="1650" b="1">
                <a:solidFill>
                  <a:srgbClr val="073763"/>
                </a:solidFill>
              </a:rPr>
              <a:t>智能元数据补全能力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A69908-354F-4969-84A2-B46D22B7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8130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生成中文名、备注、安全等级候选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输出置信度、依据和风险提示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等待用户确认后再提交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56B6F1-0804-40C9-A2F8-38A41172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33875"/>
            <a:ext cx="9715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203431-299B-40DB-B274-A6285B2C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14850"/>
            <a:ext cx="918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3763"/>
                </a:solidFill>
              </a:defRPr>
            </a:pPr>
            <a:r>
              <a:rPr sz="1500" b="1">
                <a:solidFill>
                  <a:srgbClr val="073763"/>
                </a:solidFill>
              </a:rPr>
              <a:t>上下文与知识库：固化已确认表，召回规则、标准、血缘、安全和历史经验，再生成候选。</a:t>
            </a:r>
          </a:p>
        </p:txBody>
      </p:sp>
    </p:spTree>
    <p:extLst>
      <p:ext uri="{BB962C8B-B14F-4D97-AF65-F5344CB8AC3E}">
        <p14:creationId xmlns:p14="http://schemas.microsoft.com/office/powerpoint/2010/main" val="14659802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A36C99-2847-488F-A7C7-FC9FB1E5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73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AE9E0-660B-4981-84C9-08FA2B3C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AF3FF"/>
                </a:solidFill>
              </a:defRPr>
            </a:pPr>
            <a:r>
              <a:rPr sz="1200" b="1">
                <a:solidFill>
                  <a:srgbClr val="EAF3FF"/>
                </a:solidFill>
              </a:rPr>
              <a:t>12 / 首期场景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4A715-E4C3-4B38-806A-298C1EA4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42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73763"/>
                </a:solidFill>
              </a:defRPr>
            </a:pPr>
            <a:r>
              <a:rPr sz="2700" b="1">
                <a:solidFill>
                  <a:srgbClr val="073763"/>
                </a:solidFill>
              </a:rPr>
              <a:t>首期选择智能元数据补全，是因为价值直观、风险可控、链路完整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0C5FA-9614-41D6-A0AA-3B1B10DD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F"/>
                </a:solidFill>
              </a:defRPr>
            </a:pPr>
            <a:r>
              <a:rPr sz="1350" b="0">
                <a:solidFill>
                  <a:srgbClr val="5A6B7F"/>
                </a:solidFill>
              </a:rPr>
              <a:t>它既能服务单表元数据治理，也能被资产盘点等入口复用。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B61A4-7179-4767-88D1-088B1A84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25241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D7D9A-1220-49F8-A6A1-3EA6FF75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4A523-6A0D-4E27-8C2E-F2BC20D3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763"/>
                </a:solidFill>
              </a:defRPr>
            </a:pPr>
            <a:r>
              <a:rPr sz="1725" b="1">
                <a:solidFill>
                  <a:srgbClr val="073763"/>
                </a:solidFill>
              </a:rPr>
              <a:t>价值直观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754CE-A435-4B05-9619-87255602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90800"/>
            <a:ext cx="21050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减少技术 Owner 手工补中文名、字段备注、安全等级的工作量。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A2DF9-899F-4CD6-B5BD-CDA8F569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00250"/>
            <a:ext cx="25241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C2765A-0C56-4D18-9F34-B80764FF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002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931FCA-C2C4-4336-99DC-1BD795B6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763"/>
                </a:solidFill>
              </a:defRPr>
            </a:pPr>
            <a:r>
              <a:rPr sz="1725" b="1">
                <a:solidFill>
                  <a:srgbClr val="073763"/>
                </a:solidFill>
              </a:rPr>
              <a:t>能力可复用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B4BF4C-EE95-4291-B8E6-FEDDA089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590800"/>
            <a:ext cx="21050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同一套补全能力支撑治理入口、盘点工单和后续批量补全。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DE18F5-ED2F-493C-803A-FB06E6A1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00250"/>
            <a:ext cx="25241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77C4AC-78BD-4AFA-A6BC-C1D49692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002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6E7268-3D89-4A82-8705-07E609AB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763"/>
                </a:solidFill>
              </a:defRPr>
            </a:pPr>
            <a:r>
              <a:rPr sz="1725" b="1">
                <a:solidFill>
                  <a:srgbClr val="073763"/>
                </a:solidFill>
              </a:rPr>
              <a:t>风险可控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59D836-33A1-4ACA-9461-917FC637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590800"/>
            <a:ext cx="21050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AI 只生成候选和依据，最终由用户确认，不直接改正式元数据。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54A3C8-902F-4BFD-95A8-95409443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00250"/>
            <a:ext cx="25241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DEEC2A-DF6C-4B48-AF95-42606D26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002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3C58D9-C3B4-42F1-B4DF-4D3BE3D0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763"/>
                </a:solidFill>
              </a:defRPr>
            </a:pPr>
            <a:r>
              <a:rPr sz="1725" b="1">
                <a:solidFill>
                  <a:srgbClr val="073763"/>
                </a:solidFill>
              </a:rPr>
              <a:t>Demo 好验收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EB939E-64C0-4F9A-BF0D-E6100FC2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590800"/>
            <a:ext cx="21050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能展示 Agent 协同、Tool 调用、候选生成、人工确认、流程提交。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48D3F0-9D1F-4E0E-9D4F-524A51E9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10287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77B7CC-FBD2-4218-907E-B256453D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863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73763"/>
                </a:solidFill>
              </a:defRPr>
            </a:pPr>
            <a:r>
              <a:rPr sz="1800" b="1">
                <a:solidFill>
                  <a:srgbClr val="073763"/>
                </a:solidFill>
              </a:rPr>
              <a:t>场景口径：元数据治理 Agent 是编排者，智能元数据补全是首期核心能力。</a:t>
            </a:r>
          </a:p>
        </p:txBody>
      </p:sp>
    </p:spTree>
    <p:extLst>
      <p:ext uri="{BB962C8B-B14F-4D97-AF65-F5344CB8AC3E}">
        <p14:creationId xmlns:p14="http://schemas.microsoft.com/office/powerpoint/2010/main" val="5795866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3AEF31-6E68-445A-9E22-AD6AB79A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73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416EB-7D80-4D7F-8BA7-D58A9897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AF3FF"/>
                </a:solidFill>
              </a:defRPr>
            </a:pPr>
            <a:r>
              <a:rPr sz="1200" b="1">
                <a:solidFill>
                  <a:srgbClr val="EAF3FF"/>
                </a:solidFill>
              </a:rPr>
              <a:t>13 / Demo 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5CD6D-1374-4D45-BF27-164D07D5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42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73763"/>
                </a:solidFill>
              </a:defRPr>
            </a:pPr>
            <a:r>
              <a:rPr sz="2700" b="1">
                <a:solidFill>
                  <a:srgbClr val="073763"/>
                </a:solidFill>
              </a:rPr>
              <a:t>Demo 要证明的是一条可审计的元数据补全闭环能跑通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BF20A-0A3E-44E5-8C24-CF920755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F"/>
                </a:solidFill>
              </a:defRPr>
            </a:pPr>
            <a:r>
              <a:rPr sz="1350" b="0">
                <a:solidFill>
                  <a:srgbClr val="5A6B7F"/>
                </a:solidFill>
              </a:rPr>
              <a:t>重点不是炫模型，而是证明入口、编排、工具、候选、确认、提交这条链可交付。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DF34D-B13C-4629-A136-E6AECA9A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809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2363E-0F5B-46D8-8322-0AA7D461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1455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52148-3149-43B9-BE35-B8AB561A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669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1F1D0-F235-4D43-8DB4-A9624A21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73763"/>
                </a:solidFill>
              </a:defRPr>
            </a:pPr>
            <a:r>
              <a:rPr sz="1650" b="1">
                <a:solidFill>
                  <a:srgbClr val="073763"/>
                </a:solidFill>
              </a:rPr>
              <a:t>发起治理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A26A3D-3C8C-4772-9895-53856107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用户选择单表并发起元数据治理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C1D99F-9F59-487E-8A04-496D73F8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385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4C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411E16-9CFD-411E-9380-1AB8FA81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81250"/>
            <a:ext cx="1809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066F22-B6FE-4733-9CF8-C3831843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1455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B5D1E7-85A9-4A38-9AB5-42074358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669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2F18F-61E0-43A5-A929-3E5ADC04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76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73763"/>
                </a:solidFill>
              </a:defRPr>
            </a:pPr>
            <a:r>
              <a:rPr sz="1650" b="1">
                <a:solidFill>
                  <a:srgbClr val="073763"/>
                </a:solidFill>
              </a:rPr>
              <a:t>召回知识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A3C842-45D2-473F-8383-436992C8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766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统一知识库提供规则、指引、FAQ 和历史经验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7F48C-F816-46F6-A35B-F8AFA27F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385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4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B5F0CC-EDA3-4FFC-AD1E-C0999E37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81250"/>
            <a:ext cx="1809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50B881-8A99-47FF-89F6-A486CDF2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11455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2D97FD-4B94-48F8-8693-204AB05C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669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6B267B-D534-4551-A626-6F93B50E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76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73763"/>
                </a:solidFill>
              </a:defRPr>
            </a:pPr>
            <a:r>
              <a:rPr sz="1650" b="1">
                <a:solidFill>
                  <a:srgbClr val="073763"/>
                </a:solidFill>
              </a:rPr>
              <a:t>生成候选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4473C2-FB05-466C-B784-43B91F1A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766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AI 生成中文名、备注、安全等级建议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DBF55E-9B3C-44A9-B996-93343B95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385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4C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4F205F-6916-4FE8-9A5A-5839FEF4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1809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A537AB-BE95-4D88-A949-DD90B5CC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1455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0283FB-F331-4989-92BB-565EA133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669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BA35F6-FB46-4460-AE43-7E924406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76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73763"/>
                </a:solidFill>
              </a:defRPr>
            </a:pPr>
            <a:r>
              <a:rPr sz="1650" b="1">
                <a:solidFill>
                  <a:srgbClr val="073763"/>
                </a:solidFill>
              </a:rPr>
              <a:t>人工确认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F575BE-0972-46F1-AD48-FBE72983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766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用户查看置信度和依据后修改确认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4EDDBD-C5F4-40B4-99D6-F38573B5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385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4C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25E83F-BBB5-43AD-BE57-C3BCF47F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81250"/>
            <a:ext cx="1809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D33911-F228-4BDC-8F0D-F9A50F90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11455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2783DE-7C45-495E-A5C0-5C94D5DF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2669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5FF59D-1A0E-4FFF-A073-9352DB70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76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73763"/>
                </a:solidFill>
              </a:defRPr>
            </a:pPr>
            <a:r>
              <a:rPr sz="1650" b="1">
                <a:solidFill>
                  <a:srgbClr val="073763"/>
                </a:solidFill>
              </a:rPr>
              <a:t>提交流程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5FEFC8-5A05-4AC5-8610-4F35883F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766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生成治理草案并提交 Mock Activiti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161BFB-0B51-459F-B9AC-2B6BAEDD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578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73763"/>
                </a:solidFill>
              </a:defRPr>
            </a:pPr>
            <a:r>
              <a:rPr sz="1650" b="1">
                <a:solidFill>
                  <a:srgbClr val="073763"/>
                </a:solidFill>
              </a:rPr>
              <a:t>验收标准：候选值能说清依据，知识来源可追溯，写操作有确认记录，敏感上下文不进模型。</a:t>
            </a:r>
          </a:p>
        </p:txBody>
      </p:sp>
    </p:spTree>
    <p:extLst>
      <p:ext uri="{BB962C8B-B14F-4D97-AF65-F5344CB8AC3E}">
        <p14:creationId xmlns:p14="http://schemas.microsoft.com/office/powerpoint/2010/main" val="18463895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6D1998-968A-4A74-A090-5F4CD512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73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DA25B-D44C-489A-B965-8A3232F5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AF3FF"/>
                </a:solidFill>
              </a:defRPr>
            </a:pPr>
            <a:r>
              <a:rPr sz="1200" b="1">
                <a:solidFill>
                  <a:srgbClr val="EAF3FF"/>
                </a:solidFill>
              </a:rPr>
              <a:t>14 / 交付计划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1176B-F8FD-4380-A4AE-15AEB80A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42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73763"/>
                </a:solidFill>
              </a:defRPr>
            </a:pPr>
            <a:r>
              <a:rPr sz="2700" b="1">
                <a:solidFill>
                  <a:srgbClr val="073763"/>
                </a:solidFill>
              </a:rPr>
              <a:t>实施路线按“先跑通、再接真、后扩面”推进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99AA0-0C44-4D23-96D8-3BD1EDD9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F"/>
                </a:solidFill>
              </a:defRPr>
            </a:pPr>
            <a:r>
              <a:rPr sz="1350" b="0">
                <a:solidFill>
                  <a:srgbClr val="5A6B7F"/>
                </a:solidFill>
              </a:rPr>
              <a:t>这样能控制范围，也能让业务方尽早看到可演示成果。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9A2C8-1351-4FD1-875D-C3794893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2857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1BFDE9-2029-4BFD-A350-254D5183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2857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6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7F1AF-A18D-49B8-B1EB-32E1BE13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479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阶段一：Demo 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515A1-AFD1-4361-80C2-BA859768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05125"/>
            <a:ext cx="2133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Mock Gateway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Mock Tool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本地样例数据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候选生成与确认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81381-E380-4D5D-BDAA-D7B7E46F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57550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4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4623EC-A7B0-4D63-B4E2-40350DFB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2857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7758A0-AEDD-411C-9F89-AEE98118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2857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F8B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C28F22-8F3E-4937-93CE-BDB4025D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479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阶段二：试点接入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09DCAC-67AA-4E61-A839-C93191CB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05125"/>
            <a:ext cx="2133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真实元数据 API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安全扫描接口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GoldenDB 任务态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Activiti 流程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480AB9-99C1-4E1F-B52B-83B7D314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57550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4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21C4B2-AA99-4883-9D76-AF0455A6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2857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41DAD8-6604-47C6-88DC-22411612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2857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5161F6-8CAD-4092-A9F9-BEF19695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479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阶段三：生产扩展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533796-072B-41FD-9B6A-D0001EB1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05125"/>
            <a:ext cx="2133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资产盘点复用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批量补全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调度补偿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多子 Agent 协同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96868B-8B0A-4A1E-99AB-ACD9ABA2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578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73763"/>
                </a:solidFill>
              </a:defRPr>
            </a:pPr>
            <a:r>
              <a:rPr sz="1650" b="1">
                <a:solidFill>
                  <a:srgbClr val="073763"/>
                </a:solidFill>
              </a:rPr>
              <a:t>交付节奏：不等所有系统一次性打通，先用最小闭环证明价值，再按接口成熟度替换 Mock。</a:t>
            </a:r>
          </a:p>
        </p:txBody>
      </p:sp>
    </p:spTree>
    <p:extLst>
      <p:ext uri="{BB962C8B-B14F-4D97-AF65-F5344CB8AC3E}">
        <p14:creationId xmlns:p14="http://schemas.microsoft.com/office/powerpoint/2010/main" val="12749214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004FBD-4AED-4813-963F-9761A6A7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73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7A442-9600-4E5D-B015-996E0041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AF3FF"/>
                </a:solidFill>
              </a:defRPr>
            </a:pPr>
            <a:r>
              <a:rPr sz="1200" b="1">
                <a:solidFill>
                  <a:srgbClr val="EAF3FF"/>
                </a:solidFill>
              </a:rPr>
              <a:t>15 / 风险与治理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ABD780-FC1D-453D-96E1-AD670FF2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42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73763"/>
                </a:solidFill>
              </a:defRPr>
            </a:pPr>
            <a:r>
              <a:rPr sz="2700" b="1">
                <a:solidFill>
                  <a:srgbClr val="073763"/>
                </a:solidFill>
              </a:rPr>
              <a:t>交付管理要把 AI 风险前置成规则，而不是上线后再补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6AA4C-9D3E-46E4-927D-E8BF3FCC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F"/>
                </a:solidFill>
              </a:defRPr>
            </a:pPr>
            <a:r>
              <a:rPr sz="1350" b="0">
                <a:solidFill>
                  <a:srgbClr val="5A6B7F"/>
                </a:solidFill>
              </a:rPr>
              <a:t>资产助手涉及企业内部数据和写操作，必须从第一版就有治理边界。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33E0B-115F-494E-B971-1937A2C5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A8D64-A773-42C3-86FF-02DC26FB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8A83B-1E9B-449D-AD21-4B433132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763"/>
                </a:solidFill>
              </a:defRPr>
            </a:pPr>
            <a:r>
              <a:rPr sz="1725" b="1">
                <a:solidFill>
                  <a:srgbClr val="073763"/>
                </a:solidFill>
              </a:rPr>
              <a:t>权限风险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3272B9-28B7-4D05-8BB9-07C20C9E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所有调用复用 Gateway 身份透传；Tool 层按用户权限和数据权限校验。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3F42D-5FAD-4547-A656-8CA241C3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FC9E42-E9BE-4146-9626-20FB5982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B271D6-0DCD-4B3D-9095-DDC26316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1907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763"/>
                </a:solidFill>
              </a:defRPr>
            </a:pPr>
            <a:r>
              <a:rPr sz="1725" b="1">
                <a:solidFill>
                  <a:srgbClr val="073763"/>
                </a:solidFill>
              </a:rPr>
              <a:t>写操作风险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466F7-91F8-43C8-9744-34BA31EA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59080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AI 只给候选，提交、回写、审批必须进入人工确认和状态机。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097106-D9EC-4B8E-B3F7-724E214E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125740-F6C1-4F51-B13D-EE76EFFE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779752-EBEA-4A95-AA2E-28FFAB16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907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763"/>
                </a:solidFill>
              </a:defRPr>
            </a:pPr>
            <a:r>
              <a:rPr sz="1725" b="1">
                <a:solidFill>
                  <a:srgbClr val="073763"/>
                </a:solidFill>
              </a:rPr>
              <a:t>知识与上下文失控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0451FF-64F5-449B-A569-24709C1C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9080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知识库召回和业务上下文都先裁剪、脱敏、权限过滤，敏感信息不进模型。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D5F674-FD1B-4F80-807C-A4595CAC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6E9BA8-0AB0-4C21-A66F-4C948EA2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AE41C4-B08E-424F-9647-21888245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763"/>
                </a:solidFill>
              </a:defRPr>
            </a:pPr>
            <a:r>
              <a:rPr sz="1725" b="1">
                <a:solidFill>
                  <a:srgbClr val="073763"/>
                </a:solidFill>
              </a:rPr>
              <a:t>长流程中断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EF224A-B7DC-4B16-938D-70066F39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9105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调度系统负责轮询、补偿、超时提醒，不让会话长期挂起。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FF6A6C-9346-484B-94C8-6787A6F2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005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5FC6C0-560F-46D1-8742-3D75B062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00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6A7074-4B59-43C7-AF60-79237521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1910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763"/>
                </a:solidFill>
              </a:defRPr>
            </a:pPr>
            <a:r>
              <a:rPr sz="1725" b="1">
                <a:solidFill>
                  <a:srgbClr val="073763"/>
                </a:solidFill>
              </a:rPr>
              <a:t>工具失控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A32412-863F-4031-9844-CBEDEAFB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59105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Agent 网关统一注册工具、限制白名单、审计调用和控制限流。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6C1E43-804B-4151-8349-15EB28C0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D4BB55-5C40-4BAF-8D46-252894B3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7EE29C-D9CF-4A1E-948B-78713220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910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763"/>
                </a:solidFill>
              </a:defRPr>
            </a:pPr>
            <a:r>
              <a:rPr sz="1725" b="1">
                <a:solidFill>
                  <a:srgbClr val="073763"/>
                </a:solidFill>
              </a:rPr>
              <a:t>效果不可评估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A0D979-0CCD-4CA1-B7F2-E8A93CB4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9105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OpenTelemetry + Langfuse 记录 Prompt、Tool、Trace 和用户反馈。</a:t>
            </a:r>
          </a:p>
        </p:txBody>
      </p:sp>
    </p:spTree>
    <p:extLst>
      <p:ext uri="{BB962C8B-B14F-4D97-AF65-F5344CB8AC3E}">
        <p14:creationId xmlns:p14="http://schemas.microsoft.com/office/powerpoint/2010/main" val="18876269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428B9C-B746-4F2B-9BE3-164654AD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73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AD3CF-C757-4047-BC6C-F1BD6EEC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AF3FF"/>
                </a:solidFill>
              </a:defRPr>
            </a:pPr>
            <a:r>
              <a:rPr sz="1200" b="1">
                <a:solidFill>
                  <a:srgbClr val="EAF3FF"/>
                </a:solidFill>
              </a:rPr>
              <a:t>16 / 下一步决策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05670B-03DD-4A78-87A0-5ABDF964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42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73763"/>
                </a:solidFill>
              </a:defRPr>
            </a:pPr>
            <a:r>
              <a:rPr sz="2700" b="1">
                <a:solidFill>
                  <a:srgbClr val="073763"/>
                </a:solidFill>
              </a:rPr>
              <a:t>本次汇报希望确认首期交付范围和试点资源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4F1B5-D354-4928-AF06-3D584713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F"/>
                </a:solidFill>
              </a:defRPr>
            </a:pPr>
            <a:r>
              <a:rPr sz="1350" b="0">
                <a:solidFill>
                  <a:srgbClr val="5A6B7F"/>
                </a:solidFill>
              </a:rPr>
              <a:t>明确边界后，资产助手就可以从 Demo 进入真实接口联调。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BC172-F8B8-4A5F-90B7-5EEDA07C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81B8A-8AFD-463D-9A1A-173A6A61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38E0E-D474-472E-BD10-9CAE1D21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763"/>
                </a:solidFill>
              </a:defRPr>
            </a:pPr>
            <a:r>
              <a:rPr sz="1725" b="1">
                <a:solidFill>
                  <a:srgbClr val="073763"/>
                </a:solidFill>
              </a:rPr>
              <a:t>确认首期范围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12150C-D15D-4054-8442-10A4F208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2724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以元数据治理 Agent 的智能元数据补全为首期能力，优先跑通单表治理闭环。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E6F74-7200-489A-858F-BDA6E66E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F17A50-223A-4C5F-8A61-554B7AD0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3ABB38-62CE-4717-9CF1-8F59C75D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1907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763"/>
                </a:solidFill>
              </a:defRPr>
            </a:pPr>
            <a:r>
              <a:rPr sz="1725" b="1">
                <a:solidFill>
                  <a:srgbClr val="073763"/>
                </a:solidFill>
              </a:rPr>
              <a:t>确认知识库与上下文范围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CD7F0D-0A14-4351-9E9A-B03BFE78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590800"/>
            <a:ext cx="2724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明确接口、知识库调用范围、知识版本，以及哪些上下文可进模型。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E28ED-AE45-421D-9D61-107BF754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728745-5919-4E23-AEC4-84E4F269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6A5DF6-B81C-4F63-9924-75B6D676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763"/>
                </a:solidFill>
              </a:defRPr>
            </a:pPr>
            <a:r>
              <a:rPr sz="1725" b="1">
                <a:solidFill>
                  <a:srgbClr val="073763"/>
                </a:solidFill>
              </a:rPr>
              <a:t>确认试点方式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724674-453B-4E55-92DA-7CA92229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90800"/>
            <a:ext cx="2724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先在测试环境联调，选取典型表和盘点任务作为试点样例。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BCE418-1CE4-4113-A50B-237D84E4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9906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73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B136B-7A1E-4CF4-BC23-40FC587F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建议结论：先交付一个可用、可控、知识可引用、上下文可管理、全程可审计的智能元数据补全闭环。</a:t>
            </a:r>
          </a:p>
        </p:txBody>
      </p:sp>
    </p:spTree>
    <p:extLst>
      <p:ext uri="{BB962C8B-B14F-4D97-AF65-F5344CB8AC3E}">
        <p14:creationId xmlns:p14="http://schemas.microsoft.com/office/powerpoint/2010/main" val="7611257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2026-07-08T05:57:30.4450000Z</dcterms:created>
  <dcterms:modified xsi:type="dcterms:W3CDTF">2026-07-08T05:57:30.4450000Z</dcterms:modified>
</coreProperties>
</file>
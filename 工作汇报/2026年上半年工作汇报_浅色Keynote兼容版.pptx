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0" y="5577840"/>
            <a:ext cx="12192000" cy="12801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7772400" y="685800"/>
            <a:ext cx="3200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</a:ln>
        </p:spPr>
        <p:txBody>
          <a:bodyPr/>
          <a:lstStyle/>
          <a:p/>
        </p:txBody>
      </p:sp>
      <p:sp>
        <p:nvSpPr>
          <p:cNvPr id="32" name="Shape 32"/>
          <p:cNvSpPr/>
          <p:nvPr/>
        </p:nvSpPr>
        <p:spPr>
          <a:xfrm>
            <a:off x="685800" y="960120"/>
            <a:ext cx="100584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685800" y="1188720"/>
            <a:ext cx="65532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3300" b="1">
                <a:solidFill>
                  <a:srgbClr val="0F172A"/>
                </a:solidFill>
                <a:latin typeface="Microsoft YaHei"/>
                <a:ea typeface="Microsoft YaHei"/>
              </a:rPr>
              <a:t>2026年上半年工作汇报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5800" y="2011680"/>
            <a:ext cx="6553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700" b="0">
                <a:solidFill>
                  <a:srgbClr val="0369A1"/>
                </a:solidFill>
                <a:latin typeface="Microsoft YaHei"/>
                <a:ea typeface="Microsoft YaHei"/>
              </a:rPr>
              <a:t>一站式 DataOps / 信创改造 / 研发交付 / 智能化建设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5800" y="3200400"/>
            <a:ext cx="61722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0">
                <a:solidFill>
                  <a:srgbClr val="475569"/>
                </a:solidFill>
                <a:latin typeface="Microsoft YaHei"/>
                <a:ea typeface="Microsoft YaHei"/>
              </a:rPr>
              <a:t>20260317 交接后 | 当前 6 个迭代</a:t>
            </a:r>
          </a:p>
          <a:p>
            <a:pPr algn="l"/>
            <a:r>
              <a:rPr lang="zh-CN" sz="1450" b="0">
                <a:solidFill>
                  <a:srgbClr val="475569"/>
                </a:solidFill>
                <a:latin typeface="Microsoft YaHei"/>
                <a:ea typeface="Microsoft YaHei"/>
              </a:rPr>
              <a:t>浅色技术汇报版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46720" y="11887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900" b="1">
                <a:solidFill>
                  <a:srgbClr val="B45309"/>
                </a:solidFill>
                <a:latin typeface="Microsoft YaHei"/>
                <a:ea typeface="Microsoft YaHei"/>
              </a:rPr>
              <a:t>重点提示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46720" y="2103120"/>
            <a:ext cx="2560320" cy="274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</a:rPr>
              <a:t>境外中台建设</a:t>
            </a:r>
          </a:p>
          <a:p>
            <a:pPr algn="ctr"/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</a:rPr>
              <a:t>大数据引擎升级</a:t>
            </a:r>
          </a:p>
          <a:p>
            <a:pPr algn="ctr"/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</a:rPr>
              <a:t>用户信创切换</a:t>
            </a:r>
          </a:p>
          <a:p>
            <a:pPr algn="ctr"/>
            <a:r>
              <a:rPr lang="zh-CN" sz="1600" b="1">
                <a:solidFill>
                  <a:srgbClr val="0F172A"/>
                </a:solidFill>
                <a:latin typeface="Microsoft YaHei"/>
                <a:ea typeface="Microsoft YaHei"/>
              </a:rPr>
              <a:t>智能化能力落地</a:t>
            </a:r>
          </a:p>
        </p:txBody>
      </p:sp>
      <p:sp>
        <p:nvSpPr>
          <p:cNvPr id="28" name="Shape 28"/>
          <p:cNvSpPr/>
          <p:nvPr/>
        </p:nvSpPr>
        <p:spPr>
          <a:xfrm>
            <a:off x="685800" y="5029200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685800" y="5047488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不超过10页</a:t>
            </a:r>
          </a:p>
        </p:txBody>
      </p:sp>
      <p:sp>
        <p:nvSpPr>
          <p:cNvPr id="30" name="Shape 30"/>
          <p:cNvSpPr/>
          <p:nvPr/>
        </p:nvSpPr>
        <p:spPr>
          <a:xfrm>
            <a:off x="2324100" y="5029200"/>
            <a:ext cx="146304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2324100" y="5047488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浅色技术汇报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工作总览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64748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30" name="Shape 30"/>
          <p:cNvSpPr/>
          <p:nvPr/>
        </p:nvSpPr>
        <p:spPr>
          <a:xfrm>
            <a:off x="640080" y="100584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40080" y="1005840"/>
            <a:ext cx="9144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822960" y="11430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上半年工作主线</a:t>
            </a:r>
          </a:p>
        </p:txBody>
      </p:sp>
      <p:sp>
        <p:nvSpPr>
          <p:cNvPr id="60" name="Shape 60"/>
          <p:cNvSpPr/>
          <p:nvPr/>
        </p:nvSpPr>
        <p:spPr>
          <a:xfrm>
            <a:off x="2286000" y="112471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2286000" y="114300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8680" y="1508760"/>
            <a:ext cx="288036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一站式 DataOps 建设持续扩展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信创改造与云原生切换推进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研发交付管理整合与提效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资产智能化与个人能力建设</a:t>
            </a:r>
          </a:p>
        </p:txBody>
      </p:sp>
      <p:sp>
        <p:nvSpPr>
          <p:cNvPr id="70" name="Shape 70"/>
          <p:cNvSpPr/>
          <p:nvPr/>
        </p:nvSpPr>
        <p:spPr>
          <a:xfrm>
            <a:off x="4389120" y="100584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4389120" y="1005840"/>
            <a:ext cx="91440" cy="4389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4572000" y="11430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交付规模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617720" y="1508760"/>
            <a:ext cx="288036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20260317 交接后推进 6 个迭代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统一数据源、元数据、血缘、稽核、安全等多模块协同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24 名开发商 + 9 名自有人员纳入晨会协同</a:t>
            </a:r>
          </a:p>
        </p:txBody>
      </p:sp>
      <p:sp>
        <p:nvSpPr>
          <p:cNvPr id="110" name="Shape 110"/>
          <p:cNvSpPr/>
          <p:nvPr/>
        </p:nvSpPr>
        <p:spPr>
          <a:xfrm>
            <a:off x="8138160" y="100584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8138160" y="1005840"/>
            <a:ext cx="91440" cy="4389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8321040" y="11430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管理看板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8366760" y="1508760"/>
            <a:ext cx="288036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晨会看板、集成测试看板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缺陷问题看板、临时上线看板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通过看板提升透明度与节奏控制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一站式 DataOps 建设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64748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0" name="Shape 30"/>
          <p:cNvSpPr/>
          <p:nvPr/>
        </p:nvSpPr>
        <p:spPr>
          <a:xfrm>
            <a:off x="548640" y="960120"/>
            <a:ext cx="5105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548640" y="960120"/>
            <a:ext cx="91440" cy="2194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731520" y="109728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境外中台建设</a:t>
            </a:r>
          </a:p>
        </p:txBody>
      </p:sp>
      <p:sp>
        <p:nvSpPr>
          <p:cNvPr id="60" name="Shape 60"/>
          <p:cNvSpPr/>
          <p:nvPr/>
        </p:nvSpPr>
        <p:spPr>
          <a:xfrm>
            <a:off x="4008120" y="107899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4008120" y="109728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7240" y="1463040"/>
            <a:ext cx="4693920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统一数据源、元数据采集、数据地图、数据稽核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数据血缘、数据安全、离线开发、离线同步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查询探索、运维监控支持 Redshift 与镜像源</a:t>
            </a:r>
          </a:p>
        </p:txBody>
      </p:sp>
      <p:sp>
        <p:nvSpPr>
          <p:cNvPr id="70" name="Shape 70"/>
          <p:cNvSpPr/>
          <p:nvPr/>
        </p:nvSpPr>
        <p:spPr>
          <a:xfrm>
            <a:off x="6126480" y="960120"/>
            <a:ext cx="5105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6126480" y="960120"/>
            <a:ext cx="91440" cy="2194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6309360" y="109728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引擎与源能力升级</a:t>
            </a:r>
          </a:p>
        </p:txBody>
      </p:sp>
      <p:sp>
        <p:nvSpPr>
          <p:cNvPr id="100" name="Shape 100"/>
          <p:cNvSpPr/>
          <p:nvPr/>
        </p:nvSpPr>
        <p:spPr>
          <a:xfrm>
            <a:off x="9585960" y="107899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TextBox 101"/>
          <p:cNvSpPr txBox="1"/>
          <p:nvPr/>
        </p:nvSpPr>
        <p:spPr>
          <a:xfrm>
            <a:off x="9585960" y="109728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355080" y="1463040"/>
            <a:ext cx="4693920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支持 StarRocks 内表、mixed_iceberg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支持 OceanBase Oracle 模式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多模块适配统一推进，降低后续接入成本</a:t>
            </a:r>
          </a:p>
        </p:txBody>
      </p:sp>
      <p:sp>
        <p:nvSpPr>
          <p:cNvPr id="110" name="Shape 110"/>
          <p:cNvSpPr/>
          <p:nvPr/>
        </p:nvSpPr>
        <p:spPr>
          <a:xfrm>
            <a:off x="548640" y="3657600"/>
            <a:ext cx="5105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548640" y="3657600"/>
            <a:ext cx="91440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731520" y="37947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用户信创支持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77240" y="4160520"/>
            <a:ext cx="469392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数据源支持用户切换类型、切换绑定关系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离线同步支持批量复制、提交、校验、下线、切换</a:t>
            </a:r>
          </a:p>
        </p:txBody>
      </p:sp>
      <p:sp>
        <p:nvSpPr>
          <p:cNvPr id="150" name="Shape 150"/>
          <p:cNvSpPr/>
          <p:nvPr/>
        </p:nvSpPr>
        <p:spPr>
          <a:xfrm>
            <a:off x="6126480" y="3657600"/>
            <a:ext cx="5105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51" name="Shape 151"/>
          <p:cNvSpPr/>
          <p:nvPr/>
        </p:nvSpPr>
        <p:spPr>
          <a:xfrm>
            <a:off x="6126480" y="3657600"/>
            <a:ext cx="91440" cy="1828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TextBox 152"/>
          <p:cNvSpPr txBox="1"/>
          <p:nvPr/>
        </p:nvSpPr>
        <p:spPr>
          <a:xfrm>
            <a:off x="6309360" y="37947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组织架构适配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6355080" y="4160520"/>
            <a:ext cx="469392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多个 owner 转交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权限流程支持 OA 委托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作业流 Owner 转交联动空间绑定优化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实时同步与运维能力提升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64748B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0" name="Shape 30"/>
          <p:cNvSpPr/>
          <p:nvPr/>
        </p:nvSpPr>
        <p:spPr>
          <a:xfrm>
            <a:off x="731520" y="1097280"/>
            <a:ext cx="4572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731520" y="1097280"/>
            <a:ext cx="91440" cy="3840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914400" y="12344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同步链路扩展</a:t>
            </a:r>
          </a:p>
        </p:txBody>
      </p:sp>
      <p:sp>
        <p:nvSpPr>
          <p:cNvPr id="60" name="Shape 60"/>
          <p:cNvSpPr/>
          <p:nvPr/>
        </p:nvSpPr>
        <p:spPr>
          <a:xfrm>
            <a:off x="3657600" y="121615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3657600" y="123444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0120" y="1600200"/>
            <a:ext cx="4160520" cy="3246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MySQL / Oracle / GoldenDB -&gt; DM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DM -&gt; Kafka / GoldenDB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覆盖增量同步与全量同步</a:t>
            </a:r>
          </a:p>
        </p:txBody>
      </p:sp>
      <p:sp>
        <p:nvSpPr>
          <p:cNvPr id="70" name="Shape 70"/>
          <p:cNvSpPr/>
          <p:nvPr/>
        </p:nvSpPr>
        <p:spPr>
          <a:xfrm>
            <a:off x="6309360" y="1097280"/>
            <a:ext cx="4572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6309360" y="1097280"/>
            <a:ext cx="91440" cy="3840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6492240" y="12344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运维能力建设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537960" y="1600200"/>
            <a:ext cx="4160520" cy="3246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实时运维能力建设持续推进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围绕同步链路可观测、可定位、可恢复增强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提升生产问题处理效率与系统稳定性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97280" y="5364480"/>
            <a:ext cx="10058400" cy="5486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300" b="1">
                <a:solidFill>
                  <a:srgbClr val="92400E"/>
                </a:solidFill>
                <a:latin typeface="Microsoft YaHei"/>
                <a:ea typeface="Microsoft YaHei"/>
              </a:rPr>
              <a:t>提示：实时同步是 DataOps 从“离线建设”走向“生产级数据流转”的关键能力，应作为下半年持续强化方向。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信创改造建设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64748B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0" name="Shape 30"/>
          <p:cNvSpPr/>
          <p:nvPr/>
        </p:nvSpPr>
        <p:spPr>
          <a:xfrm>
            <a:off x="640080" y="100584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40080" y="1005840"/>
            <a:ext cx="91440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8229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生产切换与降本</a:t>
            </a:r>
          </a:p>
        </p:txBody>
      </p:sp>
      <p:sp>
        <p:nvSpPr>
          <p:cNvPr id="60" name="Shape 60"/>
          <p:cNvSpPr/>
          <p:nvPr/>
        </p:nvSpPr>
        <p:spPr>
          <a:xfrm>
            <a:off x="2377440" y="112471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2377440" y="114300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86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完成数据稽核生产切换，满足合规要求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完成云原生容器化改造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旧机器下线，释放成本空间</a:t>
            </a:r>
          </a:p>
        </p:txBody>
      </p:sp>
      <p:sp>
        <p:nvSpPr>
          <p:cNvPr id="70" name="Shape 70"/>
          <p:cNvSpPr/>
          <p:nvPr/>
        </p:nvSpPr>
        <p:spPr>
          <a:xfrm>
            <a:off x="4297680" y="100584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4297680" y="1005840"/>
            <a:ext cx="9144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44805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安全与解耦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5262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完成安全扫描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完成地图解耦改造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系统间依赖更松耦合，便于后续演进</a:t>
            </a:r>
          </a:p>
        </p:txBody>
      </p:sp>
      <p:sp>
        <p:nvSpPr>
          <p:cNvPr id="110" name="Shape 110"/>
          <p:cNvSpPr/>
          <p:nvPr/>
        </p:nvSpPr>
        <p:spPr>
          <a:xfrm>
            <a:off x="7955280" y="100584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7955280" y="1005840"/>
            <a:ext cx="91440" cy="4389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81381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Mapper 改造</a:t>
            </a:r>
          </a:p>
        </p:txBody>
      </p:sp>
      <p:sp>
        <p:nvSpPr>
          <p:cNvPr id="140" name="Shape 140"/>
          <p:cNvSpPr/>
          <p:nvPr/>
        </p:nvSpPr>
        <p:spPr>
          <a:xfrm>
            <a:off x="9692640" y="112471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TextBox 141"/>
          <p:cNvSpPr txBox="1"/>
          <p:nvPr/>
        </p:nvSpPr>
        <p:spPr>
          <a:xfrm>
            <a:off x="9692640" y="114300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81838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统一数据源 mapper 改造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数据血缘 mapper 改造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元数据采集 mapper 改造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研发交付管理整合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64748B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0" name="Shape 30"/>
          <p:cNvSpPr/>
          <p:nvPr/>
        </p:nvSpPr>
        <p:spPr>
          <a:xfrm>
            <a:off x="548640" y="914400"/>
            <a:ext cx="5105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548640" y="914400"/>
            <a:ext cx="91440" cy="2377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731520" y="10515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研发管理模式升级</a:t>
            </a:r>
          </a:p>
        </p:txBody>
      </p:sp>
      <p:sp>
        <p:nvSpPr>
          <p:cNvPr id="60" name="Shape 60"/>
          <p:cNvSpPr/>
          <p:nvPr/>
        </p:nvSpPr>
        <p:spPr>
          <a:xfrm>
            <a:off x="4008120" y="103327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4008120" y="105156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7240" y="1417320"/>
            <a:ext cx="4693920" cy="1783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数据采建和管理晨会整合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20260501 后：24 开发商 + 9 自有人员参与晨会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以晨会、测试、缺陷、上线看板形成闭环</a:t>
            </a:r>
          </a:p>
        </p:txBody>
      </p:sp>
      <p:sp>
        <p:nvSpPr>
          <p:cNvPr id="70" name="Shape 70"/>
          <p:cNvSpPr/>
          <p:nvPr/>
        </p:nvSpPr>
        <p:spPr>
          <a:xfrm>
            <a:off x="6126480" y="914400"/>
            <a:ext cx="5105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6126480" y="914400"/>
            <a:ext cx="91440" cy="2377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6309360" y="10515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重点专项支撑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355080" y="1417320"/>
            <a:ext cx="4693920" cy="1783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Trinity 迁移与批量能力建设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数据资产信创改造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配合 AI 平台改造</a:t>
            </a:r>
          </a:p>
        </p:txBody>
      </p:sp>
      <p:sp>
        <p:nvSpPr>
          <p:cNvPr id="110" name="Shape 110"/>
          <p:cNvSpPr/>
          <p:nvPr/>
        </p:nvSpPr>
        <p:spPr>
          <a:xfrm>
            <a:off x="548640" y="3749040"/>
            <a:ext cx="51054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548640" y="3749040"/>
            <a:ext cx="91440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731520" y="388620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开发效率提升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77240" y="4251960"/>
            <a:ext cx="469392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督促外包使用 AI 技术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提升 UT 编写、mapper 脚本翻译等效率</a:t>
            </a:r>
          </a:p>
        </p:txBody>
      </p:sp>
      <p:sp>
        <p:nvSpPr>
          <p:cNvPr id="150" name="Shape 150"/>
          <p:cNvSpPr/>
          <p:nvPr/>
        </p:nvSpPr>
        <p:spPr>
          <a:xfrm>
            <a:off x="6126480" y="3749040"/>
            <a:ext cx="51054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51" name="Shape 151"/>
          <p:cNvSpPr/>
          <p:nvPr/>
        </p:nvSpPr>
        <p:spPr>
          <a:xfrm>
            <a:off x="6126480" y="3749040"/>
            <a:ext cx="91440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TextBox 152"/>
          <p:cNvSpPr txBox="1"/>
          <p:nvPr/>
        </p:nvSpPr>
        <p:spPr>
          <a:xfrm>
            <a:off x="6309360" y="388620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资源池协同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6355080" y="4251960"/>
            <a:ext cx="469392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支撑其他系统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支撑 LLM、网关、大模型应用平台等工作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资产智能化与个人能力提升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64748B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0" name="Shape 30"/>
          <p:cNvSpPr/>
          <p:nvPr/>
        </p:nvSpPr>
        <p:spPr>
          <a:xfrm>
            <a:off x="640080" y="100584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40080" y="1005840"/>
            <a:ext cx="9144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8229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资产智能化</a:t>
            </a:r>
          </a:p>
        </p:txBody>
      </p:sp>
      <p:sp>
        <p:nvSpPr>
          <p:cNvPr id="60" name="Shape 60"/>
          <p:cNvSpPr/>
          <p:nvPr/>
        </p:nvSpPr>
        <p:spPr>
          <a:xfrm>
            <a:off x="2377440" y="112471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2377440" y="114300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86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标准、码值、元数据 MCP 能力建设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探索数据源登记专家、查表助手等场景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从工具能力走向业务流程嵌入</a:t>
            </a:r>
          </a:p>
        </p:txBody>
      </p:sp>
      <p:sp>
        <p:nvSpPr>
          <p:cNvPr id="70" name="Shape 70"/>
          <p:cNvSpPr/>
          <p:nvPr/>
        </p:nvSpPr>
        <p:spPr>
          <a:xfrm>
            <a:off x="4297680" y="100584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4297680" y="1005840"/>
            <a:ext cx="91440" cy="4389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44805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能力学习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5262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opencode、claudecode、codex、workbuddy、QClaw、Zcode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MCP、提示词工程、上下文工程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驾驭工程、循环工程等方法学习</a:t>
            </a:r>
          </a:p>
        </p:txBody>
      </p:sp>
      <p:sp>
        <p:nvSpPr>
          <p:cNvPr id="110" name="Shape 110"/>
          <p:cNvSpPr/>
          <p:nvPr/>
        </p:nvSpPr>
        <p:spPr>
          <a:xfrm>
            <a:off x="7955280" y="100584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7955280" y="1005840"/>
            <a:ext cx="91440" cy="4389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8138160" y="11430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Vibe Coding 实践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8183880" y="1508760"/>
            <a:ext cx="2971800" cy="3794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智能记录待办到 Wiki 并录入需求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智能优化 SQL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智能翻译元数据备注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问题与下半年重点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64748B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30" name="Shape 30"/>
          <p:cNvSpPr/>
          <p:nvPr/>
        </p:nvSpPr>
        <p:spPr>
          <a:xfrm>
            <a:off x="548640" y="914400"/>
            <a:ext cx="5105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548640" y="914400"/>
            <a:ext cx="91440" cy="2194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731520" y="10515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当前问题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7240" y="1417320"/>
            <a:ext cx="4693920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前端人员较多，需求相对较少，人员匹配度需优化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智能化探索需尽快设计用户旅程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智能化方案选型需形成明确判断</a:t>
            </a:r>
          </a:p>
        </p:txBody>
      </p:sp>
      <p:sp>
        <p:nvSpPr>
          <p:cNvPr id="70" name="Shape 70"/>
          <p:cNvSpPr/>
          <p:nvPr/>
        </p:nvSpPr>
        <p:spPr>
          <a:xfrm>
            <a:off x="6126480" y="914400"/>
            <a:ext cx="5105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6126480" y="914400"/>
            <a:ext cx="91440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6309360" y="1051560"/>
            <a:ext cx="4739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下半年重点</a:t>
            </a:r>
          </a:p>
        </p:txBody>
      </p:sp>
      <p:sp>
        <p:nvSpPr>
          <p:cNvPr id="100" name="Shape 100"/>
          <p:cNvSpPr/>
          <p:nvPr/>
        </p:nvSpPr>
        <p:spPr>
          <a:xfrm>
            <a:off x="9585960" y="103327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TextBox 101"/>
          <p:cNvSpPr txBox="1"/>
          <p:nvPr/>
        </p:nvSpPr>
        <p:spPr>
          <a:xfrm>
            <a:off x="9585960" y="105156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355080" y="1417320"/>
            <a:ext cx="4693920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继续完善境外中台建设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升级各类驱动，支持用户信创切换场景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力争完成数据资产 mapper 改造与性能测试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完成数据源登记专家、查表助手等智能化建设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914400" y="3931920"/>
            <a:ext cx="10363200" cy="11887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92400E"/>
                </a:solidFill>
                <a:latin typeface="Microsoft YaHei"/>
                <a:ea typeface="Microsoft YaHei"/>
              </a:rPr>
              <a:t>提示：下半年建议把重点压到“中台能力收敛 + 信创切换闭环 + 智能化样板落地”三件事上。</a:t>
            </a:r>
          </a:p>
          <a:p>
            <a:pPr algn="l"/>
            <a:r>
              <a:rPr lang="zh-CN" sz="1450" b="1">
                <a:solidFill>
                  <a:srgbClr val="92400E"/>
                </a:solidFill>
                <a:latin typeface="Microsoft YaHei"/>
                <a:ea typeface="Microsoft YaHei"/>
              </a:rPr>
              <a:t>衡量方式：交付里程碑、性能测试结果、用户旅程验证、智能助手可用率。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685800"/>
            <a:ext cx="12192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2027 展望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2800" y="137160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zh-CN" sz="1600" b="1">
                <a:solidFill>
                  <a:srgbClr val="64748B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30" name="Shape 30"/>
          <p:cNvSpPr/>
          <p:nvPr/>
        </p:nvSpPr>
        <p:spPr>
          <a:xfrm>
            <a:off x="731520" y="1097280"/>
            <a:ext cx="3291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731520" y="1097280"/>
            <a:ext cx="91440" cy="3657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914400" y="12344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趋势判断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0120" y="1600200"/>
            <a:ext cx="2880360" cy="3063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用户需求、技术需求可能逐步减少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外包投入假设变化，需要提前思考交付模式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能力沉淀比单点交付更重要</a:t>
            </a:r>
          </a:p>
        </p:txBody>
      </p:sp>
      <p:sp>
        <p:nvSpPr>
          <p:cNvPr id="70" name="Shape 70"/>
          <p:cNvSpPr/>
          <p:nvPr/>
        </p:nvSpPr>
        <p:spPr>
          <a:xfrm>
            <a:off x="4389120" y="1097280"/>
            <a:ext cx="3291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4389120" y="1097280"/>
            <a:ext cx="91440" cy="3657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4572000" y="12344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能力建设方向</a:t>
            </a:r>
          </a:p>
        </p:txBody>
      </p:sp>
      <p:sp>
        <p:nvSpPr>
          <p:cNvPr id="100" name="Shape 100"/>
          <p:cNvSpPr/>
          <p:nvPr/>
        </p:nvSpPr>
        <p:spPr>
          <a:xfrm>
            <a:off x="6035040" y="1216152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TextBox 101"/>
          <p:cNvSpPr txBox="1"/>
          <p:nvPr/>
        </p:nvSpPr>
        <p:spPr>
          <a:xfrm>
            <a:off x="6035040" y="123444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zh-CN" sz="1100" b="1">
                <a:solidFill>
                  <a:srgbClr val="0F172A"/>
                </a:solidFill>
                <a:latin typeface="Microsoft YaHei"/>
                <a:ea typeface="Microsoft YaHei"/>
              </a:rPr>
              <a:t>重点工作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617720" y="1600200"/>
            <a:ext cx="2880360" cy="3063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建设领域专家能力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建设可复用 skill 与知识资产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将外包内容转化为流程、工具和规范</a:t>
            </a:r>
          </a:p>
        </p:txBody>
      </p:sp>
      <p:sp>
        <p:nvSpPr>
          <p:cNvPr id="110" name="Shape 110"/>
          <p:cNvSpPr/>
          <p:nvPr/>
        </p:nvSpPr>
        <p:spPr>
          <a:xfrm>
            <a:off x="8138160" y="1097280"/>
            <a:ext cx="3291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11" name="Shape 111"/>
          <p:cNvSpPr/>
          <p:nvPr/>
        </p:nvSpPr>
        <p:spPr>
          <a:xfrm>
            <a:off x="8138160" y="1097280"/>
            <a:ext cx="91440" cy="3657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8321040" y="12344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450" b="1">
                <a:solidFill>
                  <a:srgbClr val="0F172A"/>
                </a:solidFill>
                <a:latin typeface="Microsoft YaHei"/>
                <a:ea typeface="Microsoft YaHei"/>
              </a:rPr>
              <a:t>团队演进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8366760" y="1600200"/>
            <a:ext cx="2880360" cy="3063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教会外包使用大模型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以 AI 工具提升需求分析、开发、测试效率</a:t>
            </a:r>
          </a:p>
          <a:p>
            <a:pPr algn="l"/>
            <a:r>
              <a:rPr lang="zh-CN" sz="1130" b="0">
                <a:solidFill>
                  <a:srgbClr val="334155"/>
                </a:solidFill>
                <a:latin typeface="Microsoft YaHei"/>
                <a:ea typeface="Microsoft YaHei"/>
              </a:rPr>
              <a:t>• 推动团队从执行型向专家型转变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57200" y="6400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zh-CN" sz="850" b="0">
                <a:solidFill>
                  <a:srgbClr val="64748B"/>
                </a:solidFill>
                <a:latin typeface="Microsoft YaHei"/>
                <a:ea typeface="Microsoft YaHei"/>
              </a:rPr>
              <a:t>2026年工作汇报 | DataOps / 信创 / 智能化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 Report">
  <a:themeElements>
    <a:clrScheme name="Tech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0284C7"/>
      </a:accent1>
      <a:accent2>
        <a:srgbClr val="16A34A"/>
      </a:accent2>
      <a:accent3>
        <a:srgbClr val="F59E0B"/>
      </a:accent3>
      <a:accent4>
        <a:srgbClr val="7C3AED"/>
      </a:accent4>
      <a:accent5>
        <a:srgbClr val="DC2626"/>
      </a:accent5>
      <a:accent6>
        <a:srgbClr val="64748B"/>
      </a:accent6>
      <a:hlink>
        <a:srgbClr val="0284C7"/>
      </a:hlink>
      <a:folHlink>
        <a:srgbClr val="7C3AED"/>
      </a:folHlink>
    </a:clrScheme>
    <a:fontScheme name="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9</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2026年上半年工作汇报</dc:title>
  <dc:subject>根据 PPT生成Prompt.md 自动生成</dc:subject>
  <dc:creator>Codex</dc:creator>
  <cp:lastModifiedBy>Codex</cp:lastModifiedBy>
  <dcterms:created xsi:type="dcterms:W3CDTF">2026-06-16T00:00:00Z</dcterms:created>
  <dcterms:modified xsi:type="dcterms:W3CDTF">2026-06-16T00:00:00Z</dcterms:modified>
</cp:coreProperties>
</file>
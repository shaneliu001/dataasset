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0" y="5577840"/>
            <a:ext cx="12192000" cy="1280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772400" y="685800"/>
            <a:ext cx="3200400" cy="50292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1F3A5F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85800" y="1188720"/>
            <a:ext cx="6553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3300" b="1">
                <a:solidFill>
                  <a:srgbClr val="F8FAFC"/>
                </a:solidFill>
                <a:latin typeface="Microsoft YaHei"/>
                <a:ea typeface="Microsoft YaHei"/>
              </a:rPr>
              <a:t>2026年上半年工作汇报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800" y="201168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700" b="0">
                <a:solidFill>
                  <a:srgbClr val="93C5FD"/>
                </a:solidFill>
                <a:latin typeface="Microsoft YaHei"/>
                <a:ea typeface="Microsoft YaHei"/>
              </a:rPr>
              <a:t>一站式 DataOps / 信创改造 / 研发交付 / 智能化建设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5800" y="3200400"/>
            <a:ext cx="6172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0">
                <a:solidFill>
                  <a:srgbClr val="CBD5E1"/>
                </a:solidFill>
                <a:latin typeface="Microsoft YaHei"/>
                <a:ea typeface="Microsoft YaHei"/>
              </a:rPr>
              <a:t>20260317 交接后 | 当前 6 个迭代</a:t>
            </a:r>
          </a:p>
          <a:p>
            <a:pPr algn="l"/>
            <a:r>
              <a:rPr lang="zh-CN" sz="1450" b="0">
                <a:solidFill>
                  <a:srgbClr val="CBD5E1"/>
                </a:solidFill>
                <a:latin typeface="Microsoft YaHei"/>
                <a:ea typeface="Microsoft YaHei"/>
              </a:rPr>
              <a:t>技术汇报版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6720" y="1188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900" b="1">
                <a:solidFill>
                  <a:srgbClr val="FCD34D"/>
                </a:solidFill>
                <a:latin typeface="Microsoft YaHei"/>
                <a:ea typeface="Microsoft YaHei"/>
              </a:rPr>
              <a:t>重点提示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0" y="2103120"/>
            <a:ext cx="25603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境外中台建设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大数据引擎升级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用户信创切换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智能化能力落地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50292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858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不超过10页</a:t>
            </a:r>
          </a:p>
        </p:txBody>
      </p:sp>
      <p:sp>
        <p:nvSpPr>
          <p:cNvPr id="30" name="Shape 30"/>
          <p:cNvSpPr/>
          <p:nvPr/>
        </p:nvSpPr>
        <p:spPr>
          <a:xfrm>
            <a:off x="2324100" y="5029200"/>
            <a:ext cx="146304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23241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技术汇报风格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工作总览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上半年工作主线</a:t>
            </a:r>
          </a:p>
        </p:txBody>
      </p:sp>
      <p:sp>
        <p:nvSpPr>
          <p:cNvPr id="60" name="Shape 60"/>
          <p:cNvSpPr/>
          <p:nvPr/>
        </p:nvSpPr>
        <p:spPr>
          <a:xfrm>
            <a:off x="228600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28600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一站式 DataOps 建设持续扩展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信创改造与云原生切换推进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研发交付管理整合与提效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资产智能化与个人能力建设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交付规模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20260317 交接后推进 6 个迭代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统一数据源、元数据、血缘、稽核、安全等多模块协同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24 名开发商 + 9 名自有人员纳入晨会协同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管理看板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晨会看板、集成测试看板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缺陷问题看板、临时上线看板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通过看板提升透明度与节奏控制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一站式 DataOps 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6012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60120"/>
            <a:ext cx="91440" cy="2194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境外中台建设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统一数据源、元数据采集、数据地图、数据稽核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数据血缘、数据安全、离线开发、离线同步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查询探索、运维监控支持 Redshift 与镜像源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6012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60120"/>
            <a:ext cx="91440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引擎与源能力升级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支持 StarRocks 内表、mixed_iceberg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支持 OceanBase Oracle 模式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多模块适配统一推进，降低后续接入成本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657600"/>
            <a:ext cx="5105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65760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用户信创支持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数据源支持用户切换类型、切换绑定关系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离线同步支持批量复制、提交、校验、下线、切换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657600"/>
            <a:ext cx="5105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657600"/>
            <a:ext cx="91440" cy="1828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组织架构适配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多个 owner 转交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权限流程支持 OA 委托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作业流 Owner 转交联动空间绑定优化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实时同步与运维能力提升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45720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同步链路扩展</a:t>
            </a:r>
          </a:p>
        </p:txBody>
      </p:sp>
      <p:sp>
        <p:nvSpPr>
          <p:cNvPr id="60" name="Shape 60"/>
          <p:cNvSpPr/>
          <p:nvPr/>
        </p:nvSpPr>
        <p:spPr>
          <a:xfrm>
            <a:off x="365760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365760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MySQL / Oracle / GoldenDB -&gt; DM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DM -&gt; Kafka / GoldenDB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覆盖增量同步与全量同步</a:t>
            </a:r>
          </a:p>
        </p:txBody>
      </p:sp>
      <p:sp>
        <p:nvSpPr>
          <p:cNvPr id="70" name="Shape 70"/>
          <p:cNvSpPr/>
          <p:nvPr/>
        </p:nvSpPr>
        <p:spPr>
          <a:xfrm>
            <a:off x="6309360" y="1097280"/>
            <a:ext cx="45720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309360" y="1097280"/>
            <a:ext cx="91440" cy="3840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49224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运维能力建设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3796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实时运维能力建设持续推进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围绕同步链路可观测、可定位、可恢复增强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提升生产问题处理效率与系统稳定性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97280" y="5364480"/>
            <a:ext cx="10058400" cy="548640"/>
          </a:xfrm>
          <a:prstGeom prst="rect">
            <a:avLst/>
          </a:prstGeom>
          <a:solidFill>
            <a:srgbClr val="312E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300" b="1">
                <a:solidFill>
                  <a:srgbClr val="FDE68A"/>
                </a:solidFill>
                <a:latin typeface="Microsoft YaHei"/>
                <a:ea typeface="Microsoft YaHei"/>
              </a:rPr>
              <a:t>提示：实时同步是 DataOps 从“离线建设”走向“生产级数据流转”的关键能力，应作为下半年持续强化方向。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信创改造建设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生产切换与降本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完成数据稽核生产切换，满足合规要求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完成云原生容器化改造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旧机器下线，释放成本空间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安全与解耦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完成安全扫描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完成地图解耦改造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系统间依赖更松耦合，便于后续演进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Mapper 改造</a:t>
            </a:r>
          </a:p>
        </p:txBody>
      </p:sp>
      <p:sp>
        <p:nvSpPr>
          <p:cNvPr id="140" name="Shape 140"/>
          <p:cNvSpPr/>
          <p:nvPr/>
        </p:nvSpPr>
        <p:spPr>
          <a:xfrm>
            <a:off x="96926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TextBox 141"/>
          <p:cNvSpPr txBox="1"/>
          <p:nvPr/>
        </p:nvSpPr>
        <p:spPr>
          <a:xfrm>
            <a:off x="96926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 mapper 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数据血缘 mapper 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元数据采集 mapper 改造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研发交付管理整合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研发管理模式升级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数据采建和管理晨会整合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20260501 后：24 开发商 + 9 自有人员参与晨会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以晨会、测试、缺陷、上线看板形成闭环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重点专项支撑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Trinity 迁移与批量能力建设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数据资产信创改造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配合 AI 平台改造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749040"/>
            <a:ext cx="5105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749040"/>
            <a:ext cx="914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开发效率提升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督促外包使用 AI 技术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提升 UT 编写、mapper 脚本翻译等效率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749040"/>
            <a:ext cx="5105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74904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资源池协同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支撑其他系统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支撑 LLM、网关、大模型应用平台等工作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资产智能化与个人能力提升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资产智能化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标准、码值、元数据 MCP 能力建设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探索数据源登记专家、查表助手等场景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从工具能力走向业务流程嵌入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能力学习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opencode、claudecode、codex、workbuddy、QClaw、Zcode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MCP、提示词工程、上下文工程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驾驭工程、循环工程等方法学习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Vibe Coding 实践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智能记录待办到 Wiki 并录入需求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智能优化 SQL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智能翻译元数据备注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问题与下半年重点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当前问题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前端人员较多，需求相对较少，人员匹配度需优化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智能化探索需尽快设计用户旅程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智能化方案选型需形成明确判断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下半年重点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继续完善境外中台建设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升级各类驱动，支持用户信创切换场景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力争完成数据资产 mapper 改造与性能测试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完成数据源登记专家、查表助手等智能化建设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14400" y="3931920"/>
            <a:ext cx="10363200" cy="1188720"/>
          </a:xfrm>
          <a:prstGeom prst="rect">
            <a:avLst/>
          </a:prstGeom>
          <a:solidFill>
            <a:srgbClr val="312E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DE68A"/>
                </a:solidFill>
                <a:latin typeface="Microsoft YaHei"/>
                <a:ea typeface="Microsoft YaHei"/>
              </a:rPr>
              <a:t>提示：下半年建议把重点压到“中台能力收敛 + 信创切换闭环 + 智能化样板落地”三件事上。</a:t>
            </a:r>
          </a:p>
          <a:p>
            <a:pPr algn="l"/>
            <a:r>
              <a:rPr lang="zh-CN" sz="1450" b="1">
                <a:solidFill>
                  <a:srgbClr val="FDE68A"/>
                </a:solidFill>
                <a:latin typeface="Microsoft YaHei"/>
                <a:ea typeface="Microsoft YaHei"/>
              </a:rPr>
              <a:t>衡量方式：交付里程碑、性能测试结果、用户旅程验证、智能助手可用率。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2027 展望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65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趋势判断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用户需求、技术需求可能逐步减少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外包投入假设变化，需要提前思考交付模式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能力沉淀比单点交付更重要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97280"/>
            <a:ext cx="91440" cy="3657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能力建设方向</a:t>
            </a:r>
          </a:p>
        </p:txBody>
      </p:sp>
      <p:sp>
        <p:nvSpPr>
          <p:cNvPr id="100" name="Shape 100"/>
          <p:cNvSpPr/>
          <p:nvPr/>
        </p:nvSpPr>
        <p:spPr>
          <a:xfrm>
            <a:off x="603504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603504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建设领域专家能力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建设可复用 skill 与知识资产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将外包内容转化为流程、工具和规范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97280"/>
            <a:ext cx="91440" cy="3657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团队演进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教会外包使用大模型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以 AI 工具提升需求分析、开发、测试效率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推动团队从执行型向专家型转变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Report">
  <a:themeElements>
    <a:clrScheme name="Tech">
      <a:dk1>
        <a:srgbClr val="0F172A"/>
      </a:dk1>
      <a:lt1>
        <a:srgbClr val="F8FAFC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59E0B"/>
      </a:accent3>
      <a:accent4>
        <a:srgbClr val="A78BFA"/>
      </a:accent4>
      <a:accent5>
        <a:srgbClr val="EF4444"/>
      </a:accent5>
      <a:accent6>
        <a:srgbClr val="64748B"/>
      </a:accent6>
      <a:hlink>
        <a:srgbClr val="38BDF8"/>
      </a:hlink>
      <a:folHlink>
        <a:srgbClr val="A78BFA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